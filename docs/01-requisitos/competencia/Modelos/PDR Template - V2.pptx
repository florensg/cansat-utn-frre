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12" r:id="rId2"/>
    <p:sldId id="257" r:id="rId3"/>
    <p:sldId id="296" r:id="rId4"/>
    <p:sldId id="397"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49" r:id="rId42"/>
    <p:sldId id="350" r:id="rId43"/>
    <p:sldId id="351" r:id="rId44"/>
    <p:sldId id="352" r:id="rId45"/>
    <p:sldId id="353" r:id="rId46"/>
    <p:sldId id="354" r:id="rId47"/>
    <p:sldId id="355" r:id="rId48"/>
    <p:sldId id="356" r:id="rId49"/>
    <p:sldId id="357" r:id="rId50"/>
    <p:sldId id="358" r:id="rId51"/>
    <p:sldId id="359" r:id="rId52"/>
    <p:sldId id="360" r:id="rId53"/>
    <p:sldId id="361" r:id="rId54"/>
    <p:sldId id="362" r:id="rId55"/>
    <p:sldId id="363" r:id="rId56"/>
    <p:sldId id="364" r:id="rId57"/>
    <p:sldId id="365" r:id="rId58"/>
    <p:sldId id="366" r:id="rId59"/>
    <p:sldId id="367" r:id="rId60"/>
    <p:sldId id="368" r:id="rId61"/>
    <p:sldId id="369" r:id="rId62"/>
    <p:sldId id="370" r:id="rId63"/>
    <p:sldId id="371" r:id="rId64"/>
    <p:sldId id="372" r:id="rId65"/>
    <p:sldId id="373" r:id="rId66"/>
    <p:sldId id="374" r:id="rId67"/>
    <p:sldId id="375" r:id="rId68"/>
    <p:sldId id="376" r:id="rId69"/>
    <p:sldId id="377" r:id="rId70"/>
    <p:sldId id="378" r:id="rId71"/>
    <p:sldId id="379" r:id="rId72"/>
    <p:sldId id="380" r:id="rId73"/>
    <p:sldId id="381" r:id="rId74"/>
    <p:sldId id="382" r:id="rId75"/>
    <p:sldId id="383" r:id="rId76"/>
    <p:sldId id="384" r:id="rId77"/>
    <p:sldId id="385" r:id="rId78"/>
    <p:sldId id="386" r:id="rId79"/>
    <p:sldId id="387" r:id="rId80"/>
    <p:sldId id="388" r:id="rId81"/>
    <p:sldId id="389" r:id="rId82"/>
    <p:sldId id="390" r:id="rId83"/>
    <p:sldId id="391" r:id="rId84"/>
    <p:sldId id="392" r:id="rId85"/>
    <p:sldId id="393" r:id="rId86"/>
    <p:sldId id="394" r:id="rId87"/>
    <p:sldId id="395" r:id="rId88"/>
    <p:sldId id="396" r:id="rId89"/>
    <p:sldId id="305" r:id="rId9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2C4F"/>
    <a:srgbClr val="1260FF"/>
    <a:srgbClr val="17F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3" d="100"/>
          <a:sy n="63" d="100"/>
        </p:scale>
        <p:origin x="76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73BD8B90-4CCE-46FF-B06B-D317E60C4DE8}" type="datetimeFigureOut">
              <a:rPr lang="es-ES" smtClean="0"/>
              <a:t>14/10/2026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9E30AE2-6FC8-48D1-A0A6-D86B8763F9E3}" type="slidenum">
              <a:rPr lang="es-ES" smtClean="0"/>
              <a:t>‹Nº›</a:t>
            </a:fld>
            <a:endParaRPr lang="es-ES"/>
          </a:p>
        </p:txBody>
      </p:sp>
    </p:spTree>
    <p:extLst>
      <p:ext uri="{BB962C8B-B14F-4D97-AF65-F5344CB8AC3E}">
        <p14:creationId xmlns:p14="http://schemas.microsoft.com/office/powerpoint/2010/main" val="4028399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73BD8B90-4CCE-46FF-B06B-D317E60C4DE8}" type="datetimeFigureOut">
              <a:rPr lang="es-ES" smtClean="0"/>
              <a:t>14/10/2026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9E30AE2-6FC8-48D1-A0A6-D86B8763F9E3}" type="slidenum">
              <a:rPr lang="es-ES" smtClean="0"/>
              <a:t>‹Nº›</a:t>
            </a:fld>
            <a:endParaRPr lang="es-ES"/>
          </a:p>
        </p:txBody>
      </p:sp>
    </p:spTree>
    <p:extLst>
      <p:ext uri="{BB962C8B-B14F-4D97-AF65-F5344CB8AC3E}">
        <p14:creationId xmlns:p14="http://schemas.microsoft.com/office/powerpoint/2010/main" val="720905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73BD8B90-4CCE-46FF-B06B-D317E60C4DE8}" type="datetimeFigureOut">
              <a:rPr lang="es-ES" smtClean="0"/>
              <a:t>14/10/2026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9E30AE2-6FC8-48D1-A0A6-D86B8763F9E3}" type="slidenum">
              <a:rPr lang="es-ES" smtClean="0"/>
              <a:t>‹Nº›</a:t>
            </a:fld>
            <a:endParaRPr lang="es-ES"/>
          </a:p>
        </p:txBody>
      </p:sp>
    </p:spTree>
    <p:extLst>
      <p:ext uri="{BB962C8B-B14F-4D97-AF65-F5344CB8AC3E}">
        <p14:creationId xmlns:p14="http://schemas.microsoft.com/office/powerpoint/2010/main" val="436260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73BD8B90-4CCE-46FF-B06B-D317E60C4DE8}" type="datetimeFigureOut">
              <a:rPr lang="es-ES" smtClean="0"/>
              <a:t>14/10/2026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9E30AE2-6FC8-48D1-A0A6-D86B8763F9E3}" type="slidenum">
              <a:rPr lang="es-ES" smtClean="0"/>
              <a:t>‹Nº›</a:t>
            </a:fld>
            <a:endParaRPr lang="es-ES"/>
          </a:p>
        </p:txBody>
      </p:sp>
    </p:spTree>
    <p:extLst>
      <p:ext uri="{BB962C8B-B14F-4D97-AF65-F5344CB8AC3E}">
        <p14:creationId xmlns:p14="http://schemas.microsoft.com/office/powerpoint/2010/main" val="2906204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73BD8B90-4CCE-46FF-B06B-D317E60C4DE8}" type="datetimeFigureOut">
              <a:rPr lang="es-ES" smtClean="0"/>
              <a:t>14/10/2026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69E30AE2-6FC8-48D1-A0A6-D86B8763F9E3}" type="slidenum">
              <a:rPr lang="es-ES" smtClean="0"/>
              <a:t>‹Nº›</a:t>
            </a:fld>
            <a:endParaRPr lang="es-ES"/>
          </a:p>
        </p:txBody>
      </p:sp>
    </p:spTree>
    <p:extLst>
      <p:ext uri="{BB962C8B-B14F-4D97-AF65-F5344CB8AC3E}">
        <p14:creationId xmlns:p14="http://schemas.microsoft.com/office/powerpoint/2010/main" val="476691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73BD8B90-4CCE-46FF-B06B-D317E60C4DE8}" type="datetimeFigureOut">
              <a:rPr lang="es-ES" smtClean="0"/>
              <a:t>14/10/2026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69E30AE2-6FC8-48D1-A0A6-D86B8763F9E3}" type="slidenum">
              <a:rPr lang="es-ES" smtClean="0"/>
              <a:t>‹Nº›</a:t>
            </a:fld>
            <a:endParaRPr lang="es-ES"/>
          </a:p>
        </p:txBody>
      </p:sp>
    </p:spTree>
    <p:extLst>
      <p:ext uri="{BB962C8B-B14F-4D97-AF65-F5344CB8AC3E}">
        <p14:creationId xmlns:p14="http://schemas.microsoft.com/office/powerpoint/2010/main" val="57807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73BD8B90-4CCE-46FF-B06B-D317E60C4DE8}" type="datetimeFigureOut">
              <a:rPr lang="es-ES" smtClean="0"/>
              <a:t>14/10/2026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69E30AE2-6FC8-48D1-A0A6-D86B8763F9E3}" type="slidenum">
              <a:rPr lang="es-ES" smtClean="0"/>
              <a:t>‹Nº›</a:t>
            </a:fld>
            <a:endParaRPr lang="es-ES"/>
          </a:p>
        </p:txBody>
      </p:sp>
    </p:spTree>
    <p:extLst>
      <p:ext uri="{BB962C8B-B14F-4D97-AF65-F5344CB8AC3E}">
        <p14:creationId xmlns:p14="http://schemas.microsoft.com/office/powerpoint/2010/main" val="2733082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73BD8B90-4CCE-46FF-B06B-D317E60C4DE8}" type="datetimeFigureOut">
              <a:rPr lang="es-ES" smtClean="0"/>
              <a:t>14/10/2026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9E30AE2-6FC8-48D1-A0A6-D86B8763F9E3}" type="slidenum">
              <a:rPr lang="es-ES" smtClean="0"/>
              <a:t>‹Nº›</a:t>
            </a:fld>
            <a:endParaRPr lang="es-ES"/>
          </a:p>
        </p:txBody>
      </p:sp>
    </p:spTree>
    <p:extLst>
      <p:ext uri="{BB962C8B-B14F-4D97-AF65-F5344CB8AC3E}">
        <p14:creationId xmlns:p14="http://schemas.microsoft.com/office/powerpoint/2010/main" val="2291572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73BD8B90-4CCE-46FF-B06B-D317E60C4DE8}" type="datetimeFigureOut">
              <a:rPr lang="es-ES" smtClean="0"/>
              <a:t>14/10/2026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9E30AE2-6FC8-48D1-A0A6-D86B8763F9E3}" type="slidenum">
              <a:rPr lang="es-ES" smtClean="0"/>
              <a:t>‹Nº›</a:t>
            </a:fld>
            <a:endParaRPr lang="es-ES"/>
          </a:p>
        </p:txBody>
      </p:sp>
    </p:spTree>
    <p:extLst>
      <p:ext uri="{BB962C8B-B14F-4D97-AF65-F5344CB8AC3E}">
        <p14:creationId xmlns:p14="http://schemas.microsoft.com/office/powerpoint/2010/main" val="3382711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73BD8B90-4CCE-46FF-B06B-D317E60C4DE8}" type="datetimeFigureOut">
              <a:rPr lang="es-ES" smtClean="0"/>
              <a:t>14/10/2026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9E30AE2-6FC8-48D1-A0A6-D86B8763F9E3}" type="slidenum">
              <a:rPr lang="es-ES" smtClean="0"/>
              <a:t>‹Nº›</a:t>
            </a:fld>
            <a:endParaRPr lang="es-ES"/>
          </a:p>
        </p:txBody>
      </p:sp>
    </p:spTree>
    <p:extLst>
      <p:ext uri="{BB962C8B-B14F-4D97-AF65-F5344CB8AC3E}">
        <p14:creationId xmlns:p14="http://schemas.microsoft.com/office/powerpoint/2010/main" val="2794863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73BD8B90-4CCE-46FF-B06B-D317E60C4DE8}" type="datetimeFigureOut">
              <a:rPr lang="es-ES" smtClean="0"/>
              <a:t>14/10/2026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9E30AE2-6FC8-48D1-A0A6-D86B8763F9E3}" type="slidenum">
              <a:rPr lang="es-ES" smtClean="0"/>
              <a:t>‹Nº›</a:t>
            </a:fld>
            <a:endParaRPr lang="es-ES"/>
          </a:p>
        </p:txBody>
      </p:sp>
    </p:spTree>
    <p:extLst>
      <p:ext uri="{BB962C8B-B14F-4D97-AF65-F5344CB8AC3E}">
        <p14:creationId xmlns:p14="http://schemas.microsoft.com/office/powerpoint/2010/main" val="3292481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BD8B90-4CCE-46FF-B06B-D317E60C4DE8}" type="datetimeFigureOut">
              <a:rPr lang="es-ES" smtClean="0"/>
              <a:t>14/10/2026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E30AE2-6FC8-48D1-A0A6-D86B8763F9E3}" type="slidenum">
              <a:rPr lang="es-ES" smtClean="0"/>
              <a:t>‹Nº›</a:t>
            </a:fld>
            <a:endParaRPr lang="es-ES"/>
          </a:p>
        </p:txBody>
      </p:sp>
    </p:spTree>
    <p:extLst>
      <p:ext uri="{BB962C8B-B14F-4D97-AF65-F5344CB8AC3E}">
        <p14:creationId xmlns:p14="http://schemas.microsoft.com/office/powerpoint/2010/main" val="27124755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870AFD2-64C5-9AB2-200F-ABF54ECD203F}"/>
              </a:ext>
            </a:extLst>
          </p:cNvPr>
          <p:cNvSpPr txBox="1"/>
          <p:nvPr/>
        </p:nvSpPr>
        <p:spPr>
          <a:xfrm>
            <a:off x="3891715" y="5162270"/>
            <a:ext cx="4408579" cy="523220"/>
          </a:xfrm>
          <a:prstGeom prst="rect">
            <a:avLst/>
          </a:prstGeom>
          <a:noFill/>
        </p:spPr>
        <p:txBody>
          <a:bodyPr wrap="none" rtlCol="0">
            <a:spAutoFit/>
          </a:bodyPr>
          <a:lstStyle/>
          <a:p>
            <a:pPr algn="ctr"/>
            <a:r>
              <a:rPr lang="es-AR" sz="2800" b="1" dirty="0">
                <a:solidFill>
                  <a:schemeClr val="bg1"/>
                </a:solidFill>
                <a:latin typeface="Montserrat" pitchFamily="2" charset="0"/>
              </a:rPr>
              <a:t>NIVEL UNIVERSITARIO</a:t>
            </a:r>
          </a:p>
        </p:txBody>
      </p:sp>
      <p:sp>
        <p:nvSpPr>
          <p:cNvPr id="4" name="CuadroTexto 3">
            <a:extLst>
              <a:ext uri="{FF2B5EF4-FFF2-40B4-BE49-F238E27FC236}">
                <a16:creationId xmlns:a16="http://schemas.microsoft.com/office/drawing/2014/main" id="{F28BBA26-4451-A431-57EF-B8248CEBF62A}"/>
              </a:ext>
            </a:extLst>
          </p:cNvPr>
          <p:cNvSpPr txBox="1"/>
          <p:nvPr/>
        </p:nvSpPr>
        <p:spPr>
          <a:xfrm>
            <a:off x="4434327" y="6216769"/>
            <a:ext cx="3323346" cy="230832"/>
          </a:xfrm>
          <a:prstGeom prst="rect">
            <a:avLst/>
          </a:prstGeom>
          <a:noFill/>
        </p:spPr>
        <p:txBody>
          <a:bodyPr wrap="none" rtlCol="0">
            <a:spAutoFit/>
          </a:bodyPr>
          <a:lstStyle/>
          <a:p>
            <a:pPr algn="ctr"/>
            <a:r>
              <a:rPr lang="es-ES" sz="900" dirty="0">
                <a:solidFill>
                  <a:schemeClr val="bg1"/>
                </a:solidFill>
                <a:latin typeface="Montserrat" pitchFamily="2" charset="0"/>
              </a:rPr>
              <a:t>© 2026 CONAE TODOS LOS DERECHOS RESERVADOS</a:t>
            </a:r>
            <a:endParaRPr lang="es-AR" sz="900" dirty="0">
              <a:solidFill>
                <a:schemeClr val="bg1"/>
              </a:solidFill>
              <a:latin typeface="Montserrat" pitchFamily="2" charset="0"/>
            </a:endParaRPr>
          </a:p>
        </p:txBody>
      </p:sp>
      <p:pic>
        <p:nvPicPr>
          <p:cNvPr id="6" name="Imagen 5">
            <a:extLst>
              <a:ext uri="{FF2B5EF4-FFF2-40B4-BE49-F238E27FC236}">
                <a16:creationId xmlns:a16="http://schemas.microsoft.com/office/drawing/2014/main" id="{96D43359-9148-C4B8-935C-2724A663E33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37134" y="948223"/>
            <a:ext cx="3917731" cy="3966759"/>
          </a:xfrm>
          <a:prstGeom prst="rect">
            <a:avLst/>
          </a:prstGeom>
        </p:spPr>
      </p:pic>
    </p:spTree>
    <p:extLst>
      <p:ext uri="{BB962C8B-B14F-4D97-AF65-F5344CB8AC3E}">
        <p14:creationId xmlns:p14="http://schemas.microsoft.com/office/powerpoint/2010/main" val="1984491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ángulo 1"/>
          <p:cNvSpPr/>
          <p:nvPr/>
        </p:nvSpPr>
        <p:spPr>
          <a:xfrm>
            <a:off x="3303416" y="2761354"/>
            <a:ext cx="5585182" cy="1754326"/>
          </a:xfrm>
          <a:prstGeom prst="rect">
            <a:avLst/>
          </a:prstGeom>
        </p:spPr>
        <p:txBody>
          <a:bodyPr wrap="none">
            <a:spAutoFit/>
          </a:bodyPr>
          <a:lstStyle/>
          <a:p>
            <a:pPr algn="ctr"/>
            <a:r>
              <a:rPr lang="es-ES" sz="5400" b="1" dirty="0" err="1">
                <a:solidFill>
                  <a:schemeClr val="bg1"/>
                </a:solidFill>
                <a:latin typeface="Montserrat" pitchFamily="2" charset="0"/>
                <a:ea typeface="Roboto Flex" panose="02000000000000000000" pitchFamily="2" charset="0"/>
              </a:rPr>
              <a:t>Preliminary</a:t>
            </a:r>
            <a:r>
              <a:rPr lang="es-ES" sz="5400" b="1" dirty="0">
                <a:solidFill>
                  <a:schemeClr val="bg1"/>
                </a:solidFill>
                <a:latin typeface="Montserrat" pitchFamily="2" charset="0"/>
                <a:ea typeface="Roboto Flex" panose="02000000000000000000" pitchFamily="2" charset="0"/>
              </a:rPr>
              <a:t> </a:t>
            </a:r>
          </a:p>
          <a:p>
            <a:pPr algn="ctr"/>
            <a:r>
              <a:rPr lang="es-ES" sz="5400" b="1" dirty="0" err="1">
                <a:solidFill>
                  <a:schemeClr val="bg1"/>
                </a:solidFill>
                <a:latin typeface="Montserrat" pitchFamily="2" charset="0"/>
                <a:ea typeface="Roboto Flex" panose="02000000000000000000" pitchFamily="2" charset="0"/>
              </a:rPr>
              <a:t>Design</a:t>
            </a:r>
            <a:r>
              <a:rPr lang="es-ES" sz="5400" b="1" dirty="0">
                <a:solidFill>
                  <a:schemeClr val="bg1"/>
                </a:solidFill>
                <a:latin typeface="Montserrat" pitchFamily="2" charset="0"/>
                <a:ea typeface="Roboto Flex" panose="02000000000000000000" pitchFamily="2" charset="0"/>
              </a:rPr>
              <a:t> </a:t>
            </a:r>
            <a:r>
              <a:rPr lang="es-ES" sz="5400" b="1" dirty="0" err="1">
                <a:solidFill>
                  <a:schemeClr val="bg1"/>
                </a:solidFill>
                <a:latin typeface="Montserrat" pitchFamily="2" charset="0"/>
                <a:ea typeface="Roboto Flex" panose="02000000000000000000" pitchFamily="2" charset="0"/>
              </a:rPr>
              <a:t>Review</a:t>
            </a:r>
            <a:endParaRPr lang="es-ES" sz="5400" b="1" dirty="0">
              <a:solidFill>
                <a:schemeClr val="bg1"/>
              </a:solidFill>
              <a:latin typeface="Montserrat" pitchFamily="2" charset="0"/>
              <a:ea typeface="Roboto Flex" panose="02000000000000000000" pitchFamily="2" charset="0"/>
            </a:endParaRPr>
          </a:p>
        </p:txBody>
      </p:sp>
      <p:sp>
        <p:nvSpPr>
          <p:cNvPr id="6" name="Rectángulo 5"/>
          <p:cNvSpPr/>
          <p:nvPr/>
        </p:nvSpPr>
        <p:spPr>
          <a:xfrm>
            <a:off x="4735133" y="5091355"/>
            <a:ext cx="2721734" cy="584775"/>
          </a:xfrm>
          <a:prstGeom prst="rect">
            <a:avLst/>
          </a:prstGeom>
        </p:spPr>
        <p:txBody>
          <a:bodyPr wrap="square">
            <a:spAutoFit/>
          </a:bodyPr>
          <a:lstStyle/>
          <a:p>
            <a:pPr algn="ctr"/>
            <a:r>
              <a:rPr lang="es-ES" sz="1600" dirty="0">
                <a:solidFill>
                  <a:schemeClr val="bg1"/>
                </a:solidFill>
                <a:latin typeface="Montserrat" pitchFamily="2" charset="0"/>
                <a:ea typeface="Roboto Flex" panose="02000000000000000000" pitchFamily="2" charset="0"/>
              </a:rPr>
              <a:t>CANSAT</a:t>
            </a:r>
          </a:p>
          <a:p>
            <a:pPr algn="ctr"/>
            <a:r>
              <a:rPr lang="es-ES" sz="1600" dirty="0">
                <a:solidFill>
                  <a:schemeClr val="bg1"/>
                </a:solidFill>
                <a:latin typeface="Montserrat" pitchFamily="2" charset="0"/>
                <a:ea typeface="Roboto Flex" panose="02000000000000000000" pitchFamily="2" charset="0"/>
              </a:rPr>
              <a:t>Universitario</a:t>
            </a:r>
          </a:p>
        </p:txBody>
      </p:sp>
    </p:spTree>
    <p:extLst>
      <p:ext uri="{BB962C8B-B14F-4D97-AF65-F5344CB8AC3E}">
        <p14:creationId xmlns:p14="http://schemas.microsoft.com/office/powerpoint/2010/main" val="51336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5" name="Título del criterio"/>
          <p:cNvSpPr txBox="1"/>
          <p:nvPr/>
        </p:nvSpPr>
        <p:spPr>
          <a:xfrm>
            <a:off x="368560" y="1560000"/>
            <a:ext cx="10300000" cy="520000"/>
          </a:xfrm>
          <a:prstGeom prst="rect">
            <a:avLst/>
          </a:prstGeom>
          <a:noFill/>
          <a:ln>
            <a:noFill/>
          </a:ln>
        </p:spPr>
        <p:txBody>
          <a:bodyPr wrap="square" lIns="0" tIns="0" rIns="0" bIns="0" rtlCol="0" anchor="ctr">
            <a:normAutofit/>
          </a:bodyPr>
          <a:lstStyle/>
          <a:p>
            <a:r>
              <a:rPr lang="es-AR" sz="2000" b="1" dirty="0" err="1">
                <a:solidFill>
                  <a:srgbClr val="138A8A"/>
                </a:solidFill>
                <a:latin typeface="Montserrat" pitchFamily="2" charset="0"/>
              </a:rPr>
              <a:t>Preliminary</a:t>
            </a:r>
            <a:r>
              <a:rPr lang="es-AR" sz="2000" b="1" dirty="0">
                <a:solidFill>
                  <a:srgbClr val="138A8A"/>
                </a:solidFill>
                <a:latin typeface="Montserrat" pitchFamily="2" charset="0"/>
              </a:rPr>
              <a:t> </a:t>
            </a:r>
            <a:r>
              <a:rPr lang="es-AR" sz="2000" b="1" dirty="0" err="1">
                <a:solidFill>
                  <a:srgbClr val="138A8A"/>
                </a:solidFill>
                <a:latin typeface="Montserrat" pitchFamily="2" charset="0"/>
              </a:rPr>
              <a:t>Design</a:t>
            </a:r>
            <a:r>
              <a:rPr lang="es-AR" sz="2000" b="1" dirty="0">
                <a:solidFill>
                  <a:srgbClr val="138A8A"/>
                </a:solidFill>
                <a:latin typeface="Montserrat" pitchFamily="2" charset="0"/>
              </a:rPr>
              <a:t> </a:t>
            </a:r>
            <a:r>
              <a:rPr lang="es-AR" sz="2000" b="1" dirty="0" err="1">
                <a:solidFill>
                  <a:srgbClr val="138A8A"/>
                </a:solidFill>
                <a:latin typeface="Montserrat" pitchFamily="2" charset="0"/>
              </a:rPr>
              <a:t>Presentation</a:t>
            </a:r>
            <a:r>
              <a:rPr lang="es-AR" sz="2000" b="1" dirty="0">
                <a:solidFill>
                  <a:srgbClr val="138A8A"/>
                </a:solidFill>
                <a:latin typeface="Montserrat" pitchFamily="2" charset="0"/>
              </a:rPr>
              <a:t> Video</a:t>
            </a:r>
            <a:endParaRPr lang="es-ES" sz="2000" b="1" dirty="0">
              <a:solidFill>
                <a:srgbClr val="138A8A"/>
              </a:solidFill>
              <a:latin typeface="Montserrat" pitchFamily="2" charset="0"/>
              <a:ea typeface="Roboto Flex" panose="02000000000000000000" pitchFamily="2" charset="0"/>
            </a:endParaRP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r>
              <a:rPr lang="es-AR" sz="2000" dirty="0" err="1">
                <a:solidFill>
                  <a:srgbClr val="242C4F"/>
                </a:solidFill>
                <a:latin typeface="Montserrat" pitchFamily="2" charset="0"/>
              </a:rPr>
              <a:t>Insert</a:t>
            </a:r>
            <a:r>
              <a:rPr lang="es-AR" sz="2000" dirty="0">
                <a:solidFill>
                  <a:srgbClr val="242C4F"/>
                </a:solidFill>
                <a:latin typeface="Montserrat" pitchFamily="2" charset="0"/>
              </a:rPr>
              <a:t> </a:t>
            </a:r>
            <a:r>
              <a:rPr lang="es-AR" sz="2000" dirty="0" err="1">
                <a:solidFill>
                  <a:srgbClr val="242C4F"/>
                </a:solidFill>
                <a:latin typeface="Montserrat" pitchFamily="2" charset="0"/>
              </a:rPr>
              <a:t>the</a:t>
            </a:r>
            <a:r>
              <a:rPr lang="es-AR" sz="2000" dirty="0">
                <a:solidFill>
                  <a:srgbClr val="242C4F"/>
                </a:solidFill>
                <a:latin typeface="Montserrat" pitchFamily="2" charset="0"/>
              </a:rPr>
              <a:t> video link </a:t>
            </a:r>
            <a:r>
              <a:rPr lang="es-AR" sz="2000" dirty="0" err="1">
                <a:solidFill>
                  <a:srgbClr val="242C4F"/>
                </a:solidFill>
                <a:latin typeface="Montserrat" pitchFamily="2" charset="0"/>
              </a:rPr>
              <a:t>here</a:t>
            </a:r>
            <a:r>
              <a:rPr lang="es-AR" sz="2000" dirty="0">
                <a:solidFill>
                  <a:srgbClr val="242C4F"/>
                </a:solidFill>
                <a:latin typeface="Montserrat" pitchFamily="2" charset="0"/>
              </a:rPr>
              <a:t>.</a:t>
            </a:r>
            <a:endParaRPr lang="es-ES" sz="2000" dirty="0">
              <a:solidFill>
                <a:srgbClr val="242C4F"/>
              </a:solidFill>
              <a:latin typeface="Montserrat" pitchFamily="2" charset="0"/>
            </a:endParaRPr>
          </a:p>
        </p:txBody>
      </p:sp>
    </p:spTree>
    <p:extLst>
      <p:ext uri="{BB962C8B-B14F-4D97-AF65-F5344CB8AC3E}">
        <p14:creationId xmlns:p14="http://schemas.microsoft.com/office/powerpoint/2010/main" val="4141816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3CCC7B5-89EB-BD61-4D4E-CE3BAEA145B9}"/>
            </a:ext>
          </a:extLst>
        </p:cNvPr>
        <p:cNvGrpSpPr/>
        <p:nvPr/>
      </p:nvGrpSpPr>
      <p:grpSpPr>
        <a:xfrm>
          <a:off x="0" y="0"/>
          <a:ext cx="0" cy="0"/>
          <a:chOff x="0" y="0"/>
          <a:chExt cx="0" cy="0"/>
        </a:xfrm>
      </p:grpSpPr>
      <p:sp>
        <p:nvSpPr>
          <p:cNvPr id="2" name="Team Logo">
            <a:extLst>
              <a:ext uri="{FF2B5EF4-FFF2-40B4-BE49-F238E27FC236}">
                <a16:creationId xmlns:a16="http://schemas.microsoft.com/office/drawing/2014/main" id="{48576E74-2B19-B794-C75A-2BFAA91CEE34}"/>
              </a:ext>
            </a:extLst>
          </p:cNvPr>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a:extLst>
              <a:ext uri="{FF2B5EF4-FFF2-40B4-BE49-F238E27FC236}">
                <a16:creationId xmlns:a16="http://schemas.microsoft.com/office/drawing/2014/main" id="{41200DAE-B5BE-6D88-25CB-8B83A2517303}"/>
              </a:ext>
            </a:extLst>
          </p:cNvPr>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INTRODUCTION</a:t>
            </a:r>
          </a:p>
        </p:txBody>
      </p:sp>
      <p:sp>
        <p:nvSpPr>
          <p:cNvPr id="4" name="Número de criterio">
            <a:extLst>
              <a:ext uri="{FF2B5EF4-FFF2-40B4-BE49-F238E27FC236}">
                <a16:creationId xmlns:a16="http://schemas.microsoft.com/office/drawing/2014/main" id="{8518B184-DA81-83F9-E7E2-0695948072EB}"/>
              </a:ext>
            </a:extLst>
          </p:cNvPr>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1</a:t>
            </a:r>
          </a:p>
        </p:txBody>
      </p:sp>
      <p:sp>
        <p:nvSpPr>
          <p:cNvPr id="5" name="Título del criterio">
            <a:extLst>
              <a:ext uri="{FF2B5EF4-FFF2-40B4-BE49-F238E27FC236}">
                <a16:creationId xmlns:a16="http://schemas.microsoft.com/office/drawing/2014/main" id="{4B706F1B-2401-BAB1-0E78-EAB7B57B36B4}"/>
              </a:ext>
            </a:extLst>
          </p:cNvPr>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Presentation Outline</a:t>
            </a:r>
          </a:p>
        </p:txBody>
      </p:sp>
      <p:sp>
        <p:nvSpPr>
          <p:cNvPr id="6" name="Etiqueta Expectations">
            <a:extLst>
              <a:ext uri="{FF2B5EF4-FFF2-40B4-BE49-F238E27FC236}">
                <a16:creationId xmlns:a16="http://schemas.microsoft.com/office/drawing/2014/main" id="{A8D47995-47CC-F3C1-A820-451552432809}"/>
              </a:ext>
            </a:extLst>
          </p:cNvPr>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a:extLst>
              <a:ext uri="{FF2B5EF4-FFF2-40B4-BE49-F238E27FC236}">
                <a16:creationId xmlns:a16="http://schemas.microsoft.com/office/drawing/2014/main" id="{EBE73A89-A081-CA5E-21B3-BD930B1045EC}"/>
              </a:ext>
            </a:extLst>
          </p:cNvPr>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Identify all major sections with page numbers</a:t>
            </a:r>
          </a:p>
        </p:txBody>
      </p:sp>
    </p:spTree>
    <p:extLst>
      <p:ext uri="{BB962C8B-B14F-4D97-AF65-F5344CB8AC3E}">
        <p14:creationId xmlns:p14="http://schemas.microsoft.com/office/powerpoint/2010/main" val="3011897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INTRODUCTION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2</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Team Organization</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 organization of team. No more than 6 students allowed. Faculty not counted.</a:t>
            </a:r>
          </a:p>
        </p:txBody>
      </p:sp>
    </p:spTree>
    <p:extLst>
      <p:ext uri="{BB962C8B-B14F-4D97-AF65-F5344CB8AC3E}">
        <p14:creationId xmlns:p14="http://schemas.microsoft.com/office/powerpoint/2010/main" val="4141816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INTRODUCTION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3</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Acronyms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List of words and abbreviations with definitions.</a:t>
            </a:r>
          </a:p>
        </p:txBody>
      </p:sp>
    </p:spTree>
    <p:extLst>
      <p:ext uri="{BB962C8B-B14F-4D97-AF65-F5344CB8AC3E}">
        <p14:creationId xmlns:p14="http://schemas.microsoft.com/office/powerpoint/2010/main" val="4141816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SYSTEMS OVERVIEW</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4</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Mission Summary</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Description of mission. Copying from the guide is fine.</a:t>
            </a:r>
          </a:p>
        </p:txBody>
      </p:sp>
    </p:spTree>
    <p:extLst>
      <p:ext uri="{BB962C8B-B14F-4D97-AF65-F5344CB8AC3E}">
        <p14:creationId xmlns:p14="http://schemas.microsoft.com/office/powerpoint/2010/main" val="4141816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SYSTEMS OVERVIEW</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5</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System Requirement Summary</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List of high level requirements. Deployment, events at specific altitudes, mode of descent.</a:t>
            </a:r>
          </a:p>
        </p:txBody>
      </p:sp>
    </p:spTree>
    <p:extLst>
      <p:ext uri="{BB962C8B-B14F-4D97-AF65-F5344CB8AC3E}">
        <p14:creationId xmlns:p14="http://schemas.microsoft.com/office/powerpoint/2010/main" val="4141816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SYSTEMS OVERVIEW</a:t>
            </a:r>
            <a:r>
              <a:rPr lang="es-ES" sz="2000" dirty="0">
                <a:solidFill>
                  <a:srgbClr val="242C4F"/>
                </a:solidFill>
                <a:latin typeface="Montserrat" pitchFamily="2" charset="0"/>
                <a:ea typeface="Roboto Flex" panose="02000000000000000000" pitchFamily="2" charset="0"/>
              </a:rPr>
              <a:t> - System-Level CanSat Configuration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6</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Configuration A, with diagrams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Picture and description of overall structure showing payload descent method, container.</a:t>
            </a:r>
          </a:p>
        </p:txBody>
      </p:sp>
    </p:spTree>
    <p:extLst>
      <p:ext uri="{BB962C8B-B14F-4D97-AF65-F5344CB8AC3E}">
        <p14:creationId xmlns:p14="http://schemas.microsoft.com/office/powerpoint/2010/main" val="4141816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SYSTEMS OVERVIEW</a:t>
            </a:r>
            <a:r>
              <a:rPr lang="es-ES" sz="2000" dirty="0">
                <a:solidFill>
                  <a:srgbClr val="242C4F"/>
                </a:solidFill>
                <a:latin typeface="Montserrat" pitchFamily="2" charset="0"/>
                <a:ea typeface="Roboto Flex" panose="02000000000000000000" pitchFamily="2" charset="0"/>
              </a:rPr>
              <a:t> - System-Level CanSat Configuration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7</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Configuration B, with diagrams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Same as above but has to be different design.</a:t>
            </a:r>
          </a:p>
        </p:txBody>
      </p:sp>
    </p:spTree>
    <p:extLst>
      <p:ext uri="{BB962C8B-B14F-4D97-AF65-F5344CB8AC3E}">
        <p14:creationId xmlns:p14="http://schemas.microsoft.com/office/powerpoint/2010/main" val="4141816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SYSTEMS OVERVIEW</a:t>
            </a:r>
            <a:r>
              <a:rPr lang="es-ES" sz="2000" dirty="0">
                <a:solidFill>
                  <a:srgbClr val="242C4F"/>
                </a:solidFill>
                <a:latin typeface="Montserrat" pitchFamily="2" charset="0"/>
                <a:ea typeface="Roboto Flex" panose="02000000000000000000" pitchFamily="2" charset="0"/>
              </a:rPr>
              <a:t> - System-Level CanSat Configuration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8</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and rationale</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Identifies selection and provides a list of reasons for selection.</a:t>
            </a:r>
          </a:p>
        </p:txBody>
      </p:sp>
    </p:spTree>
    <p:extLst>
      <p:ext uri="{BB962C8B-B14F-4D97-AF65-F5344CB8AC3E}">
        <p14:creationId xmlns:p14="http://schemas.microsoft.com/office/powerpoint/2010/main" val="4141816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SYSTEMS OVERVIEW</a:t>
            </a:r>
            <a:r>
              <a:rPr lang="es-ES" sz="2000" dirty="0">
                <a:solidFill>
                  <a:srgbClr val="242C4F"/>
                </a:solidFill>
                <a:latin typeface="Montserrat" pitchFamily="2" charset="0"/>
                <a:ea typeface="Roboto Flex" panose="02000000000000000000" pitchFamily="2" charset="0"/>
              </a:rPr>
              <a:t> - Physical Layout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9</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Dimensions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23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Picture of payload showing dimensions of structure and any significant structure. Picture and dimensions of container.</a:t>
            </a:r>
          </a:p>
        </p:txBody>
      </p:sp>
    </p:spTree>
    <p:extLst>
      <p:ext uri="{BB962C8B-B14F-4D97-AF65-F5344CB8AC3E}">
        <p14:creationId xmlns:p14="http://schemas.microsoft.com/office/powerpoint/2010/main" val="4141816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SYSTEMS OVERVIEW</a:t>
            </a:r>
            <a:r>
              <a:rPr lang="es-ES" sz="2000" dirty="0">
                <a:solidFill>
                  <a:srgbClr val="242C4F"/>
                </a:solidFill>
                <a:latin typeface="Montserrat" pitchFamily="2" charset="0"/>
                <a:ea typeface="Roboto Flex" panose="02000000000000000000" pitchFamily="2" charset="0"/>
              </a:rPr>
              <a:t> - Physical Layout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10</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Placement of Major Components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Shows location of electronic components, batteries, GPS antenna, radio antenna, actuators.</a:t>
            </a:r>
          </a:p>
        </p:txBody>
      </p:sp>
    </p:spTree>
    <p:extLst>
      <p:ext uri="{BB962C8B-B14F-4D97-AF65-F5344CB8AC3E}">
        <p14:creationId xmlns:p14="http://schemas.microsoft.com/office/powerpoint/2010/main" val="4141816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SYSTEMS OVERVIEW</a:t>
            </a:r>
            <a:r>
              <a:rPr lang="es-ES" sz="2000" dirty="0">
                <a:solidFill>
                  <a:srgbClr val="242C4F"/>
                </a:solidFill>
                <a:latin typeface="Montserrat" pitchFamily="2" charset="0"/>
                <a:ea typeface="Roboto Flex" panose="02000000000000000000" pitchFamily="2" charset="0"/>
              </a:rPr>
              <a:t> - Physical Layout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11</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Launch Configuration</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Shows payload inside container with any parts that need stowing in stowed position.</a:t>
            </a:r>
          </a:p>
        </p:txBody>
      </p:sp>
    </p:spTree>
    <p:extLst>
      <p:ext uri="{BB962C8B-B14F-4D97-AF65-F5344CB8AC3E}">
        <p14:creationId xmlns:p14="http://schemas.microsoft.com/office/powerpoint/2010/main" val="4141816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SYSTEMS OVERVIEW</a:t>
            </a:r>
            <a:r>
              <a:rPr lang="es-ES" sz="2000" dirty="0">
                <a:solidFill>
                  <a:srgbClr val="242C4F"/>
                </a:solidFill>
                <a:latin typeface="Montserrat" pitchFamily="2" charset="0"/>
                <a:ea typeface="Roboto Flex" panose="02000000000000000000" pitchFamily="2" charset="0"/>
              </a:rPr>
              <a:t> - Physical Layout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12</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Deployed Configuration</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Shows payload outside of container with all parts deployed.</a:t>
            </a:r>
          </a:p>
        </p:txBody>
      </p:sp>
    </p:spTree>
    <p:extLst>
      <p:ext uri="{BB962C8B-B14F-4D97-AF65-F5344CB8AC3E}">
        <p14:creationId xmlns:p14="http://schemas.microsoft.com/office/powerpoint/2010/main" val="4141816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SYSTEMS OVERVIEW</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13</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System Concept of Operations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Description of flight operations from launch to landing and all the steps in between.</a:t>
            </a:r>
          </a:p>
        </p:txBody>
      </p:sp>
    </p:spTree>
    <p:extLst>
      <p:ext uri="{BB962C8B-B14F-4D97-AF65-F5344CB8AC3E}">
        <p14:creationId xmlns:p14="http://schemas.microsoft.com/office/powerpoint/2010/main" val="4141816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SYSTEMS OVERVIEW</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14</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Launch Vehicle Compatibility</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Shows or indicates overall dimensions of cansat and compares to envelope dimensions provided in guide.</a:t>
            </a:r>
          </a:p>
        </p:txBody>
      </p:sp>
    </p:spTree>
    <p:extLst>
      <p:ext uri="{BB962C8B-B14F-4D97-AF65-F5344CB8AC3E}">
        <p14:creationId xmlns:p14="http://schemas.microsoft.com/office/powerpoint/2010/main" val="4141816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15</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Sensor Subsystem Overview</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Brief description of sensors</a:t>
            </a:r>
          </a:p>
        </p:txBody>
      </p:sp>
    </p:spTree>
    <p:extLst>
      <p:ext uri="{BB962C8B-B14F-4D97-AF65-F5344CB8AC3E}">
        <p14:creationId xmlns:p14="http://schemas.microsoft.com/office/powerpoint/2010/main" val="4141816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Air Pressure Sensor Trade and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16</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Trade (2 or more sensors)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23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 at least 2 different air pressure sensors for the payload, with specs for each or statement that none is used.</a:t>
            </a:r>
          </a:p>
        </p:txBody>
      </p:sp>
    </p:spTree>
    <p:extLst>
      <p:ext uri="{BB962C8B-B14F-4D97-AF65-F5344CB8AC3E}">
        <p14:creationId xmlns:p14="http://schemas.microsoft.com/office/powerpoint/2010/main" val="4141816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Air Pressure Sensor Trade and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17</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(with criteria)</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Selection made and reasons provided or statement none is used.</a:t>
            </a:r>
          </a:p>
        </p:txBody>
      </p:sp>
    </p:spTree>
    <p:extLst>
      <p:ext uri="{BB962C8B-B14F-4D97-AF65-F5344CB8AC3E}">
        <p14:creationId xmlns:p14="http://schemas.microsoft.com/office/powerpoint/2010/main" val="4141816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Internal Temperature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18</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Trade (2 or more sensors)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 at least 2 different sensors with specs for each</a:t>
            </a:r>
          </a:p>
        </p:txBody>
      </p:sp>
    </p:spTree>
    <p:extLst>
      <p:ext uri="{BB962C8B-B14F-4D97-AF65-F5344CB8AC3E}">
        <p14:creationId xmlns:p14="http://schemas.microsoft.com/office/powerpoint/2010/main" val="4141816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Internal Temperature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19</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(with criteria)</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Selection made and reasons provided</a:t>
            </a:r>
          </a:p>
        </p:txBody>
      </p:sp>
    </p:spTree>
    <p:extLst>
      <p:ext uri="{BB962C8B-B14F-4D97-AF65-F5344CB8AC3E}">
        <p14:creationId xmlns:p14="http://schemas.microsoft.com/office/powerpoint/2010/main" val="4141816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Battery Voltage and Current Sensor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20</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Trade (2 or more sensors)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 at least 2 different designs with specs for each</a:t>
            </a:r>
          </a:p>
        </p:txBody>
      </p:sp>
    </p:spTree>
    <p:extLst>
      <p:ext uri="{BB962C8B-B14F-4D97-AF65-F5344CB8AC3E}">
        <p14:creationId xmlns:p14="http://schemas.microsoft.com/office/powerpoint/2010/main" val="4141816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Battery Voltage and Current Sensor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21</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(with criteria)</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Selection made and reasons provided</a:t>
            </a:r>
          </a:p>
        </p:txBody>
      </p:sp>
    </p:spTree>
    <p:extLst>
      <p:ext uri="{BB962C8B-B14F-4D97-AF65-F5344CB8AC3E}">
        <p14:creationId xmlns:p14="http://schemas.microsoft.com/office/powerpoint/2010/main" val="4141816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GNSS Sensor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22</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Trade (2 or more sensors)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 at least 2 different sensors with specs for each</a:t>
            </a:r>
          </a:p>
        </p:txBody>
      </p:sp>
    </p:spTree>
    <p:extLst>
      <p:ext uri="{BB962C8B-B14F-4D97-AF65-F5344CB8AC3E}">
        <p14:creationId xmlns:p14="http://schemas.microsoft.com/office/powerpoint/2010/main" val="4141816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GNSS Sensor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23</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(with criteria)</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Selection made and reasons provided</a:t>
            </a:r>
          </a:p>
        </p:txBody>
      </p:sp>
    </p:spTree>
    <p:extLst>
      <p:ext uri="{BB962C8B-B14F-4D97-AF65-F5344CB8AC3E}">
        <p14:creationId xmlns:p14="http://schemas.microsoft.com/office/powerpoint/2010/main" val="41418166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Acceleration Sensor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24</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Trade (2 or more sensors)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 at least 2 different sensors with specs for each</a:t>
            </a:r>
          </a:p>
        </p:txBody>
      </p:sp>
    </p:spTree>
    <p:extLst>
      <p:ext uri="{BB962C8B-B14F-4D97-AF65-F5344CB8AC3E}">
        <p14:creationId xmlns:p14="http://schemas.microsoft.com/office/powerpoint/2010/main" val="41418166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Acceleration Sensor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25</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(with criteria)</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Selection made and reasons provided</a:t>
            </a:r>
          </a:p>
        </p:txBody>
      </p:sp>
    </p:spTree>
    <p:extLst>
      <p:ext uri="{BB962C8B-B14F-4D97-AF65-F5344CB8AC3E}">
        <p14:creationId xmlns:p14="http://schemas.microsoft.com/office/powerpoint/2010/main" val="41418166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Rotation Rate Sensor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26</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Trade (2 or more sensors)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 at least 2 different sensors with specs for each</a:t>
            </a:r>
          </a:p>
        </p:txBody>
      </p:sp>
    </p:spTree>
    <p:extLst>
      <p:ext uri="{BB962C8B-B14F-4D97-AF65-F5344CB8AC3E}">
        <p14:creationId xmlns:p14="http://schemas.microsoft.com/office/powerpoint/2010/main" val="4141816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Rotation Rate Sensor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27</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(with criteria)</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Selection made and reasons provided</a:t>
            </a:r>
          </a:p>
        </p:txBody>
      </p:sp>
    </p:spTree>
    <p:extLst>
      <p:ext uri="{BB962C8B-B14F-4D97-AF65-F5344CB8AC3E}">
        <p14:creationId xmlns:p14="http://schemas.microsoft.com/office/powerpoint/2010/main" val="4141816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Release Camera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28</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Trade (2 or more sensors)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 at least 2 different sensors with specs for each</a:t>
            </a:r>
          </a:p>
        </p:txBody>
      </p:sp>
    </p:spTree>
    <p:extLst>
      <p:ext uri="{BB962C8B-B14F-4D97-AF65-F5344CB8AC3E}">
        <p14:creationId xmlns:p14="http://schemas.microsoft.com/office/powerpoint/2010/main" val="4141816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Release Camera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29</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(with criteria)</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Selection made and reasons provided</a:t>
            </a:r>
          </a:p>
        </p:txBody>
      </p:sp>
    </p:spTree>
    <p:extLst>
      <p:ext uri="{BB962C8B-B14F-4D97-AF65-F5344CB8AC3E}">
        <p14:creationId xmlns:p14="http://schemas.microsoft.com/office/powerpoint/2010/main" val="41418166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Ground Camera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30</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Trade (2 or more sensors)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 at least 2 different sensors with specs for each</a:t>
            </a:r>
          </a:p>
        </p:txBody>
      </p:sp>
    </p:spTree>
    <p:extLst>
      <p:ext uri="{BB962C8B-B14F-4D97-AF65-F5344CB8AC3E}">
        <p14:creationId xmlns:p14="http://schemas.microsoft.com/office/powerpoint/2010/main" val="4141816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SENSOR SUBSYSTEM DESIGN</a:t>
            </a:r>
            <a:r>
              <a:rPr lang="es-ES" sz="2000" dirty="0">
                <a:solidFill>
                  <a:srgbClr val="242C4F"/>
                </a:solidFill>
                <a:latin typeface="Montserrat" pitchFamily="2" charset="0"/>
                <a:ea typeface="Roboto Flex" panose="02000000000000000000" pitchFamily="2" charset="0"/>
              </a:rPr>
              <a:t> - Payload Ground Camera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31</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(with criteria)</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Selection made and reasons provided</a:t>
            </a:r>
          </a:p>
        </p:txBody>
      </p:sp>
    </p:spTree>
    <p:extLst>
      <p:ext uri="{BB962C8B-B14F-4D97-AF65-F5344CB8AC3E}">
        <p14:creationId xmlns:p14="http://schemas.microsoft.com/office/powerpoint/2010/main" val="41418166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DESCENT CONTROL SUBSYSTEM DESIGN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32</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Descent Control Subsystem Overview</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Overview of selected descent control configuration for the payload.</a:t>
            </a:r>
          </a:p>
        </p:txBody>
      </p:sp>
    </p:spTree>
    <p:extLst>
      <p:ext uri="{BB962C8B-B14F-4D97-AF65-F5344CB8AC3E}">
        <p14:creationId xmlns:p14="http://schemas.microsoft.com/office/powerpoint/2010/main" val="4141816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DESCENT CONTROL SUBSYSTEM DESIGN</a:t>
            </a:r>
            <a:r>
              <a:rPr lang="es-ES" sz="2000" dirty="0">
                <a:solidFill>
                  <a:srgbClr val="242C4F"/>
                </a:solidFill>
                <a:latin typeface="Montserrat" pitchFamily="2" charset="0"/>
                <a:ea typeface="Roboto Flex" panose="02000000000000000000" pitchFamily="2" charset="0"/>
              </a:rPr>
              <a:t> - Container Parachute Descent Control Strategy and Selection &amp; Trade</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33</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parachute design, 2 or more designs.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 at least two different parachute designs</a:t>
            </a:r>
          </a:p>
        </p:txBody>
      </p:sp>
    </p:spTree>
    <p:extLst>
      <p:ext uri="{BB962C8B-B14F-4D97-AF65-F5344CB8AC3E}">
        <p14:creationId xmlns:p14="http://schemas.microsoft.com/office/powerpoint/2010/main" val="4141816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DESCENT CONTROL SUBSYSTEM DESIGN</a:t>
            </a:r>
            <a:r>
              <a:rPr lang="es-ES" sz="2000" dirty="0">
                <a:solidFill>
                  <a:srgbClr val="242C4F"/>
                </a:solidFill>
                <a:latin typeface="Montserrat" pitchFamily="2" charset="0"/>
                <a:ea typeface="Roboto Flex" panose="02000000000000000000" pitchFamily="2" charset="0"/>
              </a:rPr>
              <a:t> - Container Parachute Descent Control Strategy and Selection &amp; Trade</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34</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(with criteria)</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Selection made and reasons provided</a:t>
            </a:r>
          </a:p>
        </p:txBody>
      </p:sp>
    </p:spTree>
    <p:extLst>
      <p:ext uri="{BB962C8B-B14F-4D97-AF65-F5344CB8AC3E}">
        <p14:creationId xmlns:p14="http://schemas.microsoft.com/office/powerpoint/2010/main" val="41418166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DESCENT CONTROL SUBSYSTEM DESIGN</a:t>
            </a:r>
            <a:r>
              <a:rPr lang="es-ES" sz="2000" dirty="0">
                <a:solidFill>
                  <a:srgbClr val="242C4F"/>
                </a:solidFill>
                <a:latin typeface="Montserrat" pitchFamily="2" charset="0"/>
                <a:ea typeface="Roboto Flex" panose="02000000000000000000" pitchFamily="2" charset="0"/>
              </a:rPr>
              <a:t> - Payload Descent Control Strategy and Selection &amp; Trade</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35</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Para-glider steering control and design, 2 or more designs.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 at least two different strategies for a para-glider.</a:t>
            </a:r>
          </a:p>
        </p:txBody>
      </p:sp>
    </p:spTree>
    <p:extLst>
      <p:ext uri="{BB962C8B-B14F-4D97-AF65-F5344CB8AC3E}">
        <p14:creationId xmlns:p14="http://schemas.microsoft.com/office/powerpoint/2010/main" val="41418166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DESCENT CONTROL SUBSYSTEM DESIGN</a:t>
            </a:r>
            <a:r>
              <a:rPr lang="es-ES" sz="2000" dirty="0">
                <a:solidFill>
                  <a:srgbClr val="242C4F"/>
                </a:solidFill>
                <a:latin typeface="Montserrat" pitchFamily="2" charset="0"/>
                <a:ea typeface="Roboto Flex" panose="02000000000000000000" pitchFamily="2" charset="0"/>
              </a:rPr>
              <a:t> - Payload Descent Control Strategy and Selection &amp; Trade</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36</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(with criteria)</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Selection made and reasons provided</a:t>
            </a:r>
          </a:p>
        </p:txBody>
      </p:sp>
    </p:spTree>
    <p:extLst>
      <p:ext uri="{BB962C8B-B14F-4D97-AF65-F5344CB8AC3E}">
        <p14:creationId xmlns:p14="http://schemas.microsoft.com/office/powerpoint/2010/main" val="4141816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MECHANICAL SUBSYSTEM DESIGN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37</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Mechanical Subsystem Overview</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Overview of selected mechanical configuration for container and payload.</a:t>
            </a:r>
          </a:p>
        </p:txBody>
      </p:sp>
    </p:spTree>
    <p:extLst>
      <p:ext uri="{BB962C8B-B14F-4D97-AF65-F5344CB8AC3E}">
        <p14:creationId xmlns:p14="http://schemas.microsoft.com/office/powerpoint/2010/main" val="41418166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MECHANICAL SUBSYSTEM DESIGN</a:t>
            </a:r>
            <a:r>
              <a:rPr lang="es-ES" sz="2000" dirty="0">
                <a:solidFill>
                  <a:srgbClr val="242C4F"/>
                </a:solidFill>
                <a:latin typeface="Montserrat" pitchFamily="2" charset="0"/>
                <a:ea typeface="Roboto Flex" panose="02000000000000000000" pitchFamily="2" charset="0"/>
              </a:rPr>
              <a:t> - Cansat Mechanical Layout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38</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Structure of payload</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Should show two structure designs.</a:t>
            </a:r>
          </a:p>
        </p:txBody>
      </p:sp>
    </p:spTree>
    <p:extLst>
      <p:ext uri="{BB962C8B-B14F-4D97-AF65-F5344CB8AC3E}">
        <p14:creationId xmlns:p14="http://schemas.microsoft.com/office/powerpoint/2010/main" val="41418166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MECHANICAL SUBSYSTEM DESIGN</a:t>
            </a:r>
            <a:r>
              <a:rPr lang="es-ES" sz="2000" dirty="0">
                <a:solidFill>
                  <a:srgbClr val="242C4F"/>
                </a:solidFill>
                <a:latin typeface="Montserrat" pitchFamily="2" charset="0"/>
                <a:ea typeface="Roboto Flex" panose="02000000000000000000" pitchFamily="2" charset="0"/>
              </a:rPr>
              <a:t> - Cansat Mechanical Layout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39</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Identify location of electrical components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Point out electrical subsystems, sensosrs, battery, etc.</a:t>
            </a:r>
          </a:p>
        </p:txBody>
      </p:sp>
    </p:spTree>
    <p:extLst>
      <p:ext uri="{BB962C8B-B14F-4D97-AF65-F5344CB8AC3E}">
        <p14:creationId xmlns:p14="http://schemas.microsoft.com/office/powerpoint/2010/main" val="41418166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MECHANICAL SUBSYSTEM DESIGN</a:t>
            </a:r>
            <a:r>
              <a:rPr lang="es-ES" sz="2000" dirty="0">
                <a:solidFill>
                  <a:srgbClr val="242C4F"/>
                </a:solidFill>
                <a:latin typeface="Montserrat" pitchFamily="2" charset="0"/>
                <a:ea typeface="Roboto Flex" panose="02000000000000000000" pitchFamily="2" charset="0"/>
              </a:rPr>
              <a:t> - Cansat Mechanical Layout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40</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Identify location of mechanisms and major machanical components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Point out mechanisms used to release components or change mechanical configuration.</a:t>
            </a:r>
          </a:p>
        </p:txBody>
      </p:sp>
    </p:spTree>
    <p:extLst>
      <p:ext uri="{BB962C8B-B14F-4D97-AF65-F5344CB8AC3E}">
        <p14:creationId xmlns:p14="http://schemas.microsoft.com/office/powerpoint/2010/main" val="41418166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MECHANICAL SUBSYSTEM DESIGN</a:t>
            </a:r>
            <a:r>
              <a:rPr lang="es-ES" sz="2000" dirty="0">
                <a:solidFill>
                  <a:srgbClr val="242C4F"/>
                </a:solidFill>
                <a:latin typeface="Montserrat" pitchFamily="2" charset="0"/>
                <a:ea typeface="Roboto Flex" panose="02000000000000000000" pitchFamily="2" charset="0"/>
              </a:rPr>
              <a:t> - Cansat Mechanical Layout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41</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(with criteria)</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Selection made and reasons provided</a:t>
            </a:r>
          </a:p>
        </p:txBody>
      </p:sp>
    </p:spTree>
    <p:extLst>
      <p:ext uri="{BB962C8B-B14F-4D97-AF65-F5344CB8AC3E}">
        <p14:creationId xmlns:p14="http://schemas.microsoft.com/office/powerpoint/2010/main" val="41418166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MECHANICAL SUBSYSTEM DESIGN</a:t>
            </a:r>
            <a:r>
              <a:rPr lang="es-ES" sz="2000" dirty="0">
                <a:solidFill>
                  <a:srgbClr val="242C4F"/>
                </a:solidFill>
                <a:latin typeface="Montserrat" pitchFamily="2" charset="0"/>
                <a:ea typeface="Roboto Flex" panose="02000000000000000000" pitchFamily="2" charset="0"/>
              </a:rPr>
              <a:t> - Mass Budget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42</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Mass of all components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A complete list of all of the components and their mass in grams</a:t>
            </a:r>
          </a:p>
        </p:txBody>
      </p:sp>
    </p:spTree>
    <p:extLst>
      <p:ext uri="{BB962C8B-B14F-4D97-AF65-F5344CB8AC3E}">
        <p14:creationId xmlns:p14="http://schemas.microsoft.com/office/powerpoint/2010/main" val="41418166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MECHANICAL SUBSYSTEM DESIGN</a:t>
            </a:r>
            <a:r>
              <a:rPr lang="es-ES" sz="2000" dirty="0">
                <a:solidFill>
                  <a:srgbClr val="242C4F"/>
                </a:solidFill>
                <a:latin typeface="Montserrat" pitchFamily="2" charset="0"/>
                <a:ea typeface="Roboto Flex" panose="02000000000000000000" pitchFamily="2" charset="0"/>
              </a:rPr>
              <a:t> - Mass Budget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43</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Mass of all structural elements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A complete list of all of the structural components and their mass in grams</a:t>
            </a:r>
          </a:p>
        </p:txBody>
      </p:sp>
    </p:spTree>
    <p:extLst>
      <p:ext uri="{BB962C8B-B14F-4D97-AF65-F5344CB8AC3E}">
        <p14:creationId xmlns:p14="http://schemas.microsoft.com/office/powerpoint/2010/main" val="41418166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MECHANICAL SUBSYSTEM DESIGN</a:t>
            </a:r>
            <a:r>
              <a:rPr lang="es-ES" sz="2000" dirty="0">
                <a:solidFill>
                  <a:srgbClr val="242C4F"/>
                </a:solidFill>
                <a:latin typeface="Montserrat" pitchFamily="2" charset="0"/>
                <a:ea typeface="Roboto Flex" panose="02000000000000000000" pitchFamily="2" charset="0"/>
              </a:rPr>
              <a:t> - Mass Budget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44</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Sources or uncertainties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Must document sources of and any uncertainties</a:t>
            </a:r>
          </a:p>
        </p:txBody>
      </p:sp>
    </p:spTree>
    <p:extLst>
      <p:ext uri="{BB962C8B-B14F-4D97-AF65-F5344CB8AC3E}">
        <p14:creationId xmlns:p14="http://schemas.microsoft.com/office/powerpoint/2010/main" val="41418166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MECHANICAL SUBSYSTEM DESIGN</a:t>
            </a:r>
            <a:r>
              <a:rPr lang="es-ES" sz="2000" dirty="0">
                <a:solidFill>
                  <a:srgbClr val="242C4F"/>
                </a:solidFill>
                <a:latin typeface="Montserrat" pitchFamily="2" charset="0"/>
                <a:ea typeface="Roboto Flex" panose="02000000000000000000" pitchFamily="2" charset="0"/>
              </a:rPr>
              <a:t> - Mass Budget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45</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Total Mass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Must document the total masses of components and structural elements</a:t>
            </a:r>
          </a:p>
        </p:txBody>
      </p:sp>
    </p:spTree>
    <p:extLst>
      <p:ext uri="{BB962C8B-B14F-4D97-AF65-F5344CB8AC3E}">
        <p14:creationId xmlns:p14="http://schemas.microsoft.com/office/powerpoint/2010/main" val="41418166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MECHANICAL SUBSYSTEM DESIGN</a:t>
            </a:r>
            <a:r>
              <a:rPr lang="es-ES" sz="2000" dirty="0">
                <a:solidFill>
                  <a:srgbClr val="242C4F"/>
                </a:solidFill>
                <a:latin typeface="Montserrat" pitchFamily="2" charset="0"/>
                <a:ea typeface="Roboto Flex" panose="02000000000000000000" pitchFamily="2" charset="0"/>
              </a:rPr>
              <a:t> - Mass Budget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46</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Margin (with methods for correction)</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Mass requirement - Total Mass = Margin. Document the method(s) of correction.</a:t>
            </a:r>
          </a:p>
        </p:txBody>
      </p:sp>
    </p:spTree>
    <p:extLst>
      <p:ext uri="{BB962C8B-B14F-4D97-AF65-F5344CB8AC3E}">
        <p14:creationId xmlns:p14="http://schemas.microsoft.com/office/powerpoint/2010/main" val="41418166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C&amp;DH SUBSYSTEM DESIGN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47</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CDH Overview</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Overview of selected components</a:t>
            </a:r>
          </a:p>
        </p:txBody>
      </p:sp>
    </p:spTree>
    <p:extLst>
      <p:ext uri="{BB962C8B-B14F-4D97-AF65-F5344CB8AC3E}">
        <p14:creationId xmlns:p14="http://schemas.microsoft.com/office/powerpoint/2010/main" val="41418166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C&amp;DH SUBSYSTEM DESIGN</a:t>
            </a:r>
            <a:r>
              <a:rPr lang="es-ES" sz="2000" dirty="0">
                <a:solidFill>
                  <a:srgbClr val="242C4F"/>
                </a:solidFill>
                <a:latin typeface="Montserrat" pitchFamily="2" charset="0"/>
                <a:ea typeface="Roboto Flex" panose="02000000000000000000" pitchFamily="2" charset="0"/>
              </a:rPr>
              <a:t> - Payload Processor and Memory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48</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Processor selections (including processor speed)</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Include: boot time, processor speed</a:t>
            </a:r>
          </a:p>
        </p:txBody>
      </p:sp>
    </p:spTree>
    <p:extLst>
      <p:ext uri="{BB962C8B-B14F-4D97-AF65-F5344CB8AC3E}">
        <p14:creationId xmlns:p14="http://schemas.microsoft.com/office/powerpoint/2010/main" val="41418166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C&amp;DH SUBSYSTEM DESIGN</a:t>
            </a:r>
            <a:r>
              <a:rPr lang="es-ES" sz="2000" dirty="0">
                <a:solidFill>
                  <a:srgbClr val="242C4F"/>
                </a:solidFill>
                <a:latin typeface="Montserrat" pitchFamily="2" charset="0"/>
                <a:ea typeface="Roboto Flex" panose="02000000000000000000" pitchFamily="2" charset="0"/>
              </a:rPr>
              <a:t> - Payload Processor and Memory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49</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Memory selections (including memory storage requirements, if applicable)</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 trade of local memory storage.</a:t>
            </a:r>
          </a:p>
        </p:txBody>
      </p:sp>
    </p:spTree>
    <p:extLst>
      <p:ext uri="{BB962C8B-B14F-4D97-AF65-F5344CB8AC3E}">
        <p14:creationId xmlns:p14="http://schemas.microsoft.com/office/powerpoint/2010/main" val="41418166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C&amp;DH SUBSYSTEM DESIGN</a:t>
            </a:r>
            <a:r>
              <a:rPr lang="es-ES" sz="2000" dirty="0">
                <a:solidFill>
                  <a:srgbClr val="242C4F"/>
                </a:solidFill>
                <a:latin typeface="Montserrat" pitchFamily="2" charset="0"/>
                <a:ea typeface="Roboto Flex" panose="02000000000000000000" pitchFamily="2" charset="0"/>
              </a:rPr>
              <a:t> - Payload Processor and Memory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50</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Data Interfaces (types and numbers)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23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Should include the type of pin (GPIO, Analog, Digital, etc.), if it is an input or output, and how many of that type of pin are available.</a:t>
            </a:r>
          </a:p>
        </p:txBody>
      </p:sp>
    </p:spTree>
    <p:extLst>
      <p:ext uri="{BB962C8B-B14F-4D97-AF65-F5344CB8AC3E}">
        <p14:creationId xmlns:p14="http://schemas.microsoft.com/office/powerpoint/2010/main" val="41418166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C&amp;DH SUBSYSTEM DESIGN</a:t>
            </a:r>
            <a:r>
              <a:rPr lang="es-ES" sz="2000" dirty="0">
                <a:solidFill>
                  <a:srgbClr val="242C4F"/>
                </a:solidFill>
                <a:latin typeface="Montserrat" pitchFamily="2" charset="0"/>
                <a:ea typeface="Roboto Flex" panose="02000000000000000000" pitchFamily="2" charset="0"/>
              </a:rPr>
              <a:t> - Payload Processor and Memory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51</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Trade (2 or more)</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At least two processor &amp; memory configurations presented</a:t>
            </a:r>
          </a:p>
        </p:txBody>
      </p:sp>
    </p:spTree>
    <p:extLst>
      <p:ext uri="{BB962C8B-B14F-4D97-AF65-F5344CB8AC3E}">
        <p14:creationId xmlns:p14="http://schemas.microsoft.com/office/powerpoint/2010/main" val="41418166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C&amp;DH SUBSYSTEM DESIGN</a:t>
            </a:r>
            <a:r>
              <a:rPr lang="es-ES" sz="2000" dirty="0">
                <a:solidFill>
                  <a:srgbClr val="242C4F"/>
                </a:solidFill>
                <a:latin typeface="Montserrat" pitchFamily="2" charset="0"/>
                <a:ea typeface="Roboto Flex" panose="02000000000000000000" pitchFamily="2" charset="0"/>
              </a:rPr>
              <a:t> - Payload Processor and Memory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52</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(with criteria)</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Indicate which selection and why it was chosen</a:t>
            </a:r>
          </a:p>
        </p:txBody>
      </p:sp>
    </p:spTree>
    <p:extLst>
      <p:ext uri="{BB962C8B-B14F-4D97-AF65-F5344CB8AC3E}">
        <p14:creationId xmlns:p14="http://schemas.microsoft.com/office/powerpoint/2010/main" val="41418166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C&amp;DH SUBSYSTEM DESIGN</a:t>
            </a:r>
            <a:r>
              <a:rPr lang="es-ES" sz="2000" dirty="0">
                <a:solidFill>
                  <a:srgbClr val="242C4F"/>
                </a:solidFill>
                <a:latin typeface="Montserrat" pitchFamily="2" charset="0"/>
                <a:ea typeface="Roboto Flex" panose="02000000000000000000" pitchFamily="2" charset="0"/>
              </a:rPr>
              <a:t> - Payload Radio Configuration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53</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Radio Selection</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r>
              <a:rPr lang="es-ES" sz="1600" i="1" dirty="0">
                <a:solidFill>
                  <a:srgbClr val="6B7280"/>
                </a:solidFill>
                <a:latin typeface="Montserrat" pitchFamily="2" charset="0"/>
                <a:ea typeface="Roboto Flex" panose="02000000000000000000" pitchFamily="2" charset="0"/>
              </a:rPr>
              <a:t>Sin descripción de expectativas en la planilla.</a:t>
            </a:r>
          </a:p>
        </p:txBody>
      </p:sp>
    </p:spTree>
    <p:extLst>
      <p:ext uri="{BB962C8B-B14F-4D97-AF65-F5344CB8AC3E}">
        <p14:creationId xmlns:p14="http://schemas.microsoft.com/office/powerpoint/2010/main" val="41418166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C&amp;DH SUBSYSTEM DESIGN</a:t>
            </a:r>
            <a:r>
              <a:rPr lang="es-ES" sz="2000" dirty="0">
                <a:solidFill>
                  <a:srgbClr val="242C4F"/>
                </a:solidFill>
                <a:latin typeface="Montserrat" pitchFamily="2" charset="0"/>
                <a:ea typeface="Roboto Flex" panose="02000000000000000000" pitchFamily="2" charset="0"/>
              </a:rPr>
              <a:t> - Payload Radio Configuration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54</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Discussion of Transmission Control</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How often is data transmitted, how does landing handled for end of transmission?</a:t>
            </a:r>
          </a:p>
        </p:txBody>
      </p:sp>
    </p:spTree>
    <p:extLst>
      <p:ext uri="{BB962C8B-B14F-4D97-AF65-F5344CB8AC3E}">
        <p14:creationId xmlns:p14="http://schemas.microsoft.com/office/powerpoint/2010/main" val="41418166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C&amp;DH SUBSYSTEM DESIGN</a:t>
            </a:r>
            <a:r>
              <a:rPr lang="es-ES" sz="2000" dirty="0">
                <a:solidFill>
                  <a:srgbClr val="242C4F"/>
                </a:solidFill>
                <a:latin typeface="Montserrat" pitchFamily="2" charset="0"/>
                <a:ea typeface="Roboto Flex" panose="02000000000000000000" pitchFamily="2" charset="0"/>
              </a:rPr>
              <a:t> - Payload Radio Configuration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55</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Payload Telemetry Format</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Team must show an example of data transmission matching data format from section 3.3 in Mission Guide</a:t>
            </a:r>
          </a:p>
        </p:txBody>
      </p:sp>
    </p:spTree>
    <p:extLst>
      <p:ext uri="{BB962C8B-B14F-4D97-AF65-F5344CB8AC3E}">
        <p14:creationId xmlns:p14="http://schemas.microsoft.com/office/powerpoint/2010/main" val="41418166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C&amp;DH SUBSYSTEM DESIGN</a:t>
            </a:r>
            <a:r>
              <a:rPr lang="es-ES" sz="2000" dirty="0">
                <a:solidFill>
                  <a:srgbClr val="242C4F"/>
                </a:solidFill>
                <a:latin typeface="Montserrat" pitchFamily="2" charset="0"/>
                <a:ea typeface="Roboto Flex" panose="02000000000000000000" pitchFamily="2" charset="0"/>
              </a:rPr>
              <a:t> - Payload Radio Configuration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56</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Payload Command Formats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Team must show list of commands and formats</a:t>
            </a:r>
          </a:p>
        </p:txBody>
      </p:sp>
    </p:spTree>
    <p:extLst>
      <p:ext uri="{BB962C8B-B14F-4D97-AF65-F5344CB8AC3E}">
        <p14:creationId xmlns:p14="http://schemas.microsoft.com/office/powerpoint/2010/main" val="41418166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ELECTRICAL POWER SUBSYSTEM DESIGN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57</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EPS Overview</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Overview of EPS, diagram and components</a:t>
            </a:r>
          </a:p>
        </p:txBody>
      </p:sp>
    </p:spTree>
    <p:extLst>
      <p:ext uri="{BB962C8B-B14F-4D97-AF65-F5344CB8AC3E}">
        <p14:creationId xmlns:p14="http://schemas.microsoft.com/office/powerpoint/2010/main" val="41418166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ELECTRICAL POWER SUBSYSTEM DESIGN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58</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Payload Electrical Block Diagram</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High-level schematic, including voltages and major components</a:t>
            </a:r>
          </a:p>
        </p:txBody>
      </p:sp>
    </p:spTree>
    <p:extLst>
      <p:ext uri="{BB962C8B-B14F-4D97-AF65-F5344CB8AC3E}">
        <p14:creationId xmlns:p14="http://schemas.microsoft.com/office/powerpoint/2010/main" val="41418166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ELECTRICAL POWER SUBSYSTEM DESIGN</a:t>
            </a:r>
            <a:r>
              <a:rPr lang="es-ES" sz="2000" dirty="0">
                <a:solidFill>
                  <a:srgbClr val="242C4F"/>
                </a:solidFill>
                <a:latin typeface="Montserrat" pitchFamily="2" charset="0"/>
                <a:ea typeface="Roboto Flex" panose="02000000000000000000" pitchFamily="2" charset="0"/>
              </a:rPr>
              <a:t> - Payload Power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59</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Battery selection</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No lithium-polymer; a lithium-polymer selection shouldn't be counted as a valid selection</a:t>
            </a:r>
          </a:p>
        </p:txBody>
      </p:sp>
    </p:spTree>
    <p:extLst>
      <p:ext uri="{BB962C8B-B14F-4D97-AF65-F5344CB8AC3E}">
        <p14:creationId xmlns:p14="http://schemas.microsoft.com/office/powerpoint/2010/main" val="41418166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ELECTRICAL POWER SUBSYSTEM DESIGN</a:t>
            </a:r>
            <a:r>
              <a:rPr lang="es-ES" sz="2000" dirty="0">
                <a:solidFill>
                  <a:srgbClr val="242C4F"/>
                </a:solidFill>
                <a:latin typeface="Montserrat" pitchFamily="2" charset="0"/>
                <a:ea typeface="Roboto Flex" panose="02000000000000000000" pitchFamily="2" charset="0"/>
              </a:rPr>
              <a:t> - Payload Power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60</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Battery Maximum Current</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List maximum current battery can supply</a:t>
            </a:r>
          </a:p>
        </p:txBody>
      </p:sp>
    </p:spTree>
    <p:extLst>
      <p:ext uri="{BB962C8B-B14F-4D97-AF65-F5344CB8AC3E}">
        <p14:creationId xmlns:p14="http://schemas.microsoft.com/office/powerpoint/2010/main" val="41418166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ELECTRICAL POWER SUBSYSTEM DESIGN</a:t>
            </a:r>
            <a:r>
              <a:rPr lang="es-ES" sz="2000" dirty="0">
                <a:solidFill>
                  <a:srgbClr val="242C4F"/>
                </a:solidFill>
                <a:latin typeface="Montserrat" pitchFamily="2" charset="0"/>
                <a:ea typeface="Roboto Flex" panose="02000000000000000000" pitchFamily="2" charset="0"/>
              </a:rPr>
              <a:t> - Payload Power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61</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Battery Capacity</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List battery capacity is mAH and WH</a:t>
            </a:r>
          </a:p>
        </p:txBody>
      </p:sp>
    </p:spTree>
    <p:extLst>
      <p:ext uri="{BB962C8B-B14F-4D97-AF65-F5344CB8AC3E}">
        <p14:creationId xmlns:p14="http://schemas.microsoft.com/office/powerpoint/2010/main" val="41418166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ELECTRICAL POWER SUBSYSTEM DESIGN</a:t>
            </a:r>
            <a:r>
              <a:rPr lang="es-ES" sz="2000" dirty="0">
                <a:solidFill>
                  <a:srgbClr val="242C4F"/>
                </a:solidFill>
                <a:latin typeface="Montserrat" pitchFamily="2" charset="0"/>
                <a:ea typeface="Roboto Flex" panose="02000000000000000000" pitchFamily="2" charset="0"/>
              </a:rPr>
              <a:t> - Payload Power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62</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Battery configuraiton (series/parallel/other configurations)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Must identify number of batteries and how connected to each other</a:t>
            </a:r>
          </a:p>
        </p:txBody>
      </p:sp>
    </p:spTree>
    <p:extLst>
      <p:ext uri="{BB962C8B-B14F-4D97-AF65-F5344CB8AC3E}">
        <p14:creationId xmlns:p14="http://schemas.microsoft.com/office/powerpoint/2010/main" val="41418166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ELECTRICAL POWER SUBSYSTEM DESIGN</a:t>
            </a:r>
            <a:r>
              <a:rPr lang="es-ES" sz="2000" dirty="0">
                <a:solidFill>
                  <a:srgbClr val="242C4F"/>
                </a:solidFill>
                <a:latin typeface="Montserrat" pitchFamily="2" charset="0"/>
                <a:ea typeface="Roboto Flex" panose="02000000000000000000" pitchFamily="2" charset="0"/>
              </a:rPr>
              <a:t> - Payload Power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63</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Trade (2 or more)</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Show at least two types of batteries</a:t>
            </a:r>
          </a:p>
        </p:txBody>
      </p:sp>
    </p:spTree>
    <p:extLst>
      <p:ext uri="{BB962C8B-B14F-4D97-AF65-F5344CB8AC3E}">
        <p14:creationId xmlns:p14="http://schemas.microsoft.com/office/powerpoint/2010/main" val="41418166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ELECTRICAL POWER SUBSYSTEM DESIGN</a:t>
            </a:r>
            <a:r>
              <a:rPr lang="es-ES" sz="2000" dirty="0">
                <a:solidFill>
                  <a:srgbClr val="242C4F"/>
                </a:solidFill>
                <a:latin typeface="Montserrat" pitchFamily="2" charset="0"/>
                <a:ea typeface="Roboto Flex" panose="02000000000000000000" pitchFamily="2" charset="0"/>
              </a:rPr>
              <a:t> - Payload Power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64</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 (with criteria)</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r>
              <a:rPr lang="es-ES" sz="1600" i="1" dirty="0">
                <a:solidFill>
                  <a:srgbClr val="6B7280"/>
                </a:solidFill>
                <a:latin typeface="Montserrat" pitchFamily="2" charset="0"/>
                <a:ea typeface="Roboto Flex" panose="02000000000000000000" pitchFamily="2" charset="0"/>
              </a:rPr>
              <a:t>Sin descripción de expectativas en la planilla.</a:t>
            </a:r>
          </a:p>
        </p:txBody>
      </p:sp>
    </p:spTree>
    <p:extLst>
      <p:ext uri="{BB962C8B-B14F-4D97-AF65-F5344CB8AC3E}">
        <p14:creationId xmlns:p14="http://schemas.microsoft.com/office/powerpoint/2010/main" val="41418166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ELECTRICAL POWER SUBSYSTEM DESIGN</a:t>
            </a:r>
            <a:r>
              <a:rPr lang="es-ES" sz="2000" dirty="0">
                <a:solidFill>
                  <a:srgbClr val="242C4F"/>
                </a:solidFill>
                <a:latin typeface="Montserrat" pitchFamily="2" charset="0"/>
                <a:ea typeface="Roboto Flex" panose="02000000000000000000" pitchFamily="2" charset="0"/>
              </a:rPr>
              <a:t> - Payload Power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65</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Payload Power Budget</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All power consumption should be in watt hours (Wh) only</a:t>
            </a:r>
          </a:p>
        </p:txBody>
      </p:sp>
    </p:spTree>
    <p:extLst>
      <p:ext uri="{BB962C8B-B14F-4D97-AF65-F5344CB8AC3E}">
        <p14:creationId xmlns:p14="http://schemas.microsoft.com/office/powerpoint/2010/main" val="41418166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FLIGHT SOFTWARE DESIGN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66</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FSW Overview</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23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1600" dirty="0">
                <a:solidFill>
                  <a:srgbClr val="242C4F"/>
                </a:solidFill>
                <a:latin typeface="Montserrat" pitchFamily="2" charset="0"/>
                <a:ea typeface="Roboto Flex" panose="02000000000000000000" pitchFamily="2" charset="0"/>
              </a:rPr>
              <a:t>Should discuss basic FSW architecture including a flowchart showing the software flow, programming languages, development environments and a brief summary of the FSW tasks.</a:t>
            </a:r>
          </a:p>
        </p:txBody>
      </p:sp>
    </p:spTree>
    <p:extLst>
      <p:ext uri="{BB962C8B-B14F-4D97-AF65-F5344CB8AC3E}">
        <p14:creationId xmlns:p14="http://schemas.microsoft.com/office/powerpoint/2010/main" val="41418166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FLIGHT SOFTWARE DESIGN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67</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Payload FSW State Diagram</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30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1600" dirty="0">
                <a:solidFill>
                  <a:srgbClr val="242C4F"/>
                </a:solidFill>
                <a:latin typeface="Montserrat" pitchFamily="2" charset="0"/>
                <a:ea typeface="Roboto Flex" panose="02000000000000000000" pitchFamily="2" charset="0"/>
              </a:rPr>
              <a:t>Software state diagrams for payload defining the states and transition conditions of the flight software. Also include sampling of sensors with rates, communications, data storage, mechanism activations, major decision points in the logic and power management.Should also include FSW recovery to correct state after processor reset during flight.</a:t>
            </a:r>
          </a:p>
        </p:txBody>
      </p:sp>
    </p:spTree>
    <p:extLst>
      <p:ext uri="{BB962C8B-B14F-4D97-AF65-F5344CB8AC3E}">
        <p14:creationId xmlns:p14="http://schemas.microsoft.com/office/powerpoint/2010/main" val="41418166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FLIGHT SOFTWARE DESIGN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68</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Software Development Plan</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23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The software development plan should include prototyping, software subsystem development sequence, development team and test methodology.</a:t>
            </a:r>
          </a:p>
        </p:txBody>
      </p:sp>
    </p:spTree>
    <p:extLst>
      <p:ext uri="{BB962C8B-B14F-4D97-AF65-F5344CB8AC3E}">
        <p14:creationId xmlns:p14="http://schemas.microsoft.com/office/powerpoint/2010/main" val="41418166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GROUND CONTROL SYSTEM DESIGN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69</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GCS Overview</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A simple context diagram showing major components</a:t>
            </a:r>
          </a:p>
        </p:txBody>
      </p:sp>
    </p:spTree>
    <p:extLst>
      <p:ext uri="{BB962C8B-B14F-4D97-AF65-F5344CB8AC3E}">
        <p14:creationId xmlns:p14="http://schemas.microsoft.com/office/powerpoint/2010/main" val="41418166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GROUND CONTROL SYSTEM DESIGN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70</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GCS Design</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Should have a diagram of the ground station, including components and how they connect</a:t>
            </a:r>
          </a:p>
        </p:txBody>
      </p:sp>
    </p:spTree>
    <p:extLst>
      <p:ext uri="{BB962C8B-B14F-4D97-AF65-F5344CB8AC3E}">
        <p14:creationId xmlns:p14="http://schemas.microsoft.com/office/powerpoint/2010/main" val="41418166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GROUND CONTROL SYSTEM DESIGN</a:t>
            </a:r>
            <a:r>
              <a:rPr lang="es-ES" sz="2000" dirty="0">
                <a:solidFill>
                  <a:srgbClr val="242C4F"/>
                </a:solidFill>
                <a:latin typeface="Montserrat" pitchFamily="2" charset="0"/>
                <a:ea typeface="Roboto Flex" panose="02000000000000000000" pitchFamily="2" charset="0"/>
              </a:rPr>
              <a:t> - GCS Antenna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71</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Trade (show at least 2)</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Should include antenna patterns</a:t>
            </a:r>
          </a:p>
        </p:txBody>
      </p:sp>
    </p:spTree>
    <p:extLst>
      <p:ext uri="{BB962C8B-B14F-4D97-AF65-F5344CB8AC3E}">
        <p14:creationId xmlns:p14="http://schemas.microsoft.com/office/powerpoint/2010/main" val="41418166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GROUND CONTROL SYSTEM DESIGN</a:t>
            </a:r>
            <a:r>
              <a:rPr lang="es-ES" sz="2000" dirty="0">
                <a:solidFill>
                  <a:srgbClr val="242C4F"/>
                </a:solidFill>
                <a:latin typeface="Montserrat" pitchFamily="2" charset="0"/>
                <a:ea typeface="Roboto Flex" panose="02000000000000000000" pitchFamily="2" charset="0"/>
              </a:rPr>
              <a:t> - GCS Antenna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72</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Discuss Antenna Mounting Design</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Handheld or table top</a:t>
            </a:r>
          </a:p>
        </p:txBody>
      </p:sp>
    </p:spTree>
    <p:extLst>
      <p:ext uri="{BB962C8B-B14F-4D97-AF65-F5344CB8AC3E}">
        <p14:creationId xmlns:p14="http://schemas.microsoft.com/office/powerpoint/2010/main" val="41418166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GROUND CONTROL SYSTEM DESIGN</a:t>
            </a:r>
            <a:r>
              <a:rPr lang="es-ES" sz="2000" dirty="0">
                <a:solidFill>
                  <a:srgbClr val="242C4F"/>
                </a:solidFill>
                <a:latin typeface="Montserrat" pitchFamily="2" charset="0"/>
                <a:ea typeface="Roboto Flex" panose="02000000000000000000" pitchFamily="2" charset="0"/>
              </a:rPr>
              <a:t> - GCS Antenna Trade &amp; Selection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73</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Selection</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Indicate selected design and reasons for selection.</a:t>
            </a:r>
          </a:p>
        </p:txBody>
      </p:sp>
    </p:spTree>
    <p:extLst>
      <p:ext uri="{BB962C8B-B14F-4D97-AF65-F5344CB8AC3E}">
        <p14:creationId xmlns:p14="http://schemas.microsoft.com/office/powerpoint/2010/main" val="41418166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GROUND CONTROL SYSTEM DESIGN</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74</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GCS Software</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30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1600" dirty="0">
                <a:solidFill>
                  <a:srgbClr val="242C4F"/>
                </a:solidFill>
                <a:latin typeface="Montserrat" pitchFamily="2" charset="0"/>
                <a:ea typeface="Roboto Flex" panose="02000000000000000000" pitchFamily="2" charset="0"/>
              </a:rPr>
              <a:t>Should include telemetry display prototypes, commercial off the shelf software packages used, real time plotting software design, how the calibration command for the barometric sensor and row/pitch angles will be transmitted and verified, telemetry data recording and media presentation to judges, .csv telemetry file creation for judges.</a:t>
            </a:r>
          </a:p>
        </p:txBody>
      </p:sp>
    </p:spTree>
    <p:extLst>
      <p:ext uri="{BB962C8B-B14F-4D97-AF65-F5344CB8AC3E}">
        <p14:creationId xmlns:p14="http://schemas.microsoft.com/office/powerpoint/2010/main" val="41418166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CANSAT INTEGRATION AND TEST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75</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CanSat I&amp;T Overview</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r>
              <a:rPr lang="es-ES" sz="1600" i="1" dirty="0">
                <a:solidFill>
                  <a:srgbClr val="6B7280"/>
                </a:solidFill>
                <a:latin typeface="Montserrat" pitchFamily="2" charset="0"/>
                <a:ea typeface="Roboto Flex" panose="02000000000000000000" pitchFamily="2" charset="0"/>
              </a:rPr>
              <a:t>Sin descripción de expectativas en la planilla.</a:t>
            </a:r>
          </a:p>
        </p:txBody>
      </p:sp>
    </p:spTree>
    <p:extLst>
      <p:ext uri="{BB962C8B-B14F-4D97-AF65-F5344CB8AC3E}">
        <p14:creationId xmlns:p14="http://schemas.microsoft.com/office/powerpoint/2010/main" val="41418166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CANSAT INTEGRATION AND TEST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76</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Subsystem Level Test Plans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Description of the test plan(s) and how implemented</a:t>
            </a:r>
          </a:p>
        </p:txBody>
      </p:sp>
    </p:spTree>
    <p:extLst>
      <p:ext uri="{BB962C8B-B14F-4D97-AF65-F5344CB8AC3E}">
        <p14:creationId xmlns:p14="http://schemas.microsoft.com/office/powerpoint/2010/main" val="41418166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CANSAT INTEGRATION AND TEST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77</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Integrated Level Functional Test Plans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Description of the test plan(s) and how implemented</a:t>
            </a:r>
          </a:p>
        </p:txBody>
      </p:sp>
    </p:spTree>
    <p:extLst>
      <p:ext uri="{BB962C8B-B14F-4D97-AF65-F5344CB8AC3E}">
        <p14:creationId xmlns:p14="http://schemas.microsoft.com/office/powerpoint/2010/main" val="41418166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CANSAT INTEGRATION AND TEST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78</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Environmental Test Plans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Description of the test plan(s) and how implemented</a:t>
            </a:r>
          </a:p>
        </p:txBody>
      </p:sp>
    </p:spTree>
    <p:extLst>
      <p:ext uri="{BB962C8B-B14F-4D97-AF65-F5344CB8AC3E}">
        <p14:creationId xmlns:p14="http://schemas.microsoft.com/office/powerpoint/2010/main" val="41418166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CANSAT INTEGRATION AND TEST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79</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Simulation Test Plans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Description of the test plan(s) and how implemented</a:t>
            </a:r>
          </a:p>
        </p:txBody>
      </p:sp>
    </p:spTree>
    <p:extLst>
      <p:ext uri="{BB962C8B-B14F-4D97-AF65-F5344CB8AC3E}">
        <p14:creationId xmlns:p14="http://schemas.microsoft.com/office/powerpoint/2010/main" val="41418166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MANAGEMENT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80</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CanSat Budget - Hardware</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All component with prices should be listed in a table</a:t>
            </a:r>
          </a:p>
        </p:txBody>
      </p:sp>
    </p:spTree>
    <p:extLst>
      <p:ext uri="{BB962C8B-B14F-4D97-AF65-F5344CB8AC3E}">
        <p14:creationId xmlns:p14="http://schemas.microsoft.com/office/powerpoint/2010/main" val="41418166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MANAGEMENT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81</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CanSat Budget - Other Costs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All other costs should be listed in a table. There should be a table for overall cost of mission.</a:t>
            </a:r>
          </a:p>
        </p:txBody>
      </p:sp>
    </p:spTree>
    <p:extLst>
      <p:ext uri="{BB962C8B-B14F-4D97-AF65-F5344CB8AC3E}">
        <p14:creationId xmlns:p14="http://schemas.microsoft.com/office/powerpoint/2010/main" val="41418166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MANAGEMENT</a:t>
            </a:r>
            <a:r>
              <a:rPr lang="es-ES" sz="2000" dirty="0">
                <a:solidFill>
                  <a:srgbClr val="242C4F"/>
                </a:solidFill>
                <a:latin typeface="Montserrat" pitchFamily="2" charset="0"/>
                <a:ea typeface="Roboto Flex" panose="02000000000000000000" pitchFamily="2" charset="0"/>
              </a:rPr>
              <a:t> - Program Schedule</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82</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Gantt Chart Summary (One Page showing Major Milestones)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One page Gantt chart showing only major milestones</a:t>
            </a:r>
          </a:p>
        </p:txBody>
      </p:sp>
    </p:spTree>
    <p:extLst>
      <p:ext uri="{BB962C8B-B14F-4D97-AF65-F5344CB8AC3E}">
        <p14:creationId xmlns:p14="http://schemas.microsoft.com/office/powerpoint/2010/main" val="41418166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MANAGEMENT</a:t>
            </a:r>
            <a:r>
              <a:rPr lang="es-ES" sz="2000" dirty="0">
                <a:solidFill>
                  <a:srgbClr val="242C4F"/>
                </a:solidFill>
                <a:latin typeface="Montserrat" pitchFamily="2" charset="0"/>
                <a:ea typeface="Roboto Flex" panose="02000000000000000000" pitchFamily="2" charset="0"/>
              </a:rPr>
              <a:t> - Program Schedule</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83</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Gantt Chart or Table Summary Showing Full Schedule</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Table or ANOTHER Gantt chart, which should include detail, including exams and school vacations</a:t>
            </a:r>
          </a:p>
        </p:txBody>
      </p:sp>
    </p:spTree>
    <p:extLst>
      <p:ext uri="{BB962C8B-B14F-4D97-AF65-F5344CB8AC3E}">
        <p14:creationId xmlns:p14="http://schemas.microsoft.com/office/powerpoint/2010/main" val="41418166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MANAGEMENT</a:t>
            </a:r>
            <a:r>
              <a:rPr lang="es-ES" sz="2000" dirty="0">
                <a:solidFill>
                  <a:srgbClr val="242C4F"/>
                </a:solidFill>
                <a:latin typeface="Montserrat" pitchFamily="2" charset="0"/>
                <a:ea typeface="Roboto Flex" panose="02000000000000000000" pitchFamily="2" charset="0"/>
              </a:rPr>
              <a:t> - Program Schedule</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84</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Major Development Activies with Assignments Shown</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lnSpc>
                <a:spcPct val="120000"/>
              </a:lnSpc>
            </a:pPr>
            <a:r>
              <a:rPr lang="es-ES" sz="2000" dirty="0">
                <a:solidFill>
                  <a:srgbClr val="242C4F"/>
                </a:solidFill>
                <a:latin typeface="Montserrat" pitchFamily="2" charset="0"/>
                <a:ea typeface="Roboto Flex" panose="02000000000000000000" pitchFamily="2" charset="0"/>
              </a:rPr>
              <a:t>Development activities should include team or team members assigned to each task</a:t>
            </a:r>
          </a:p>
        </p:txBody>
      </p:sp>
    </p:spTree>
    <p:extLst>
      <p:ext uri="{BB962C8B-B14F-4D97-AF65-F5344CB8AC3E}">
        <p14:creationId xmlns:p14="http://schemas.microsoft.com/office/powerpoint/2010/main" val="41418166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am Logo"/>
          <p:cNvSpPr/>
          <p:nvPr/>
        </p:nvSpPr>
        <p:spPr>
          <a:xfrm>
            <a:off x="368560" y="320000"/>
            <a:ext cx="1000000" cy="1000000"/>
          </a:xfrm>
          <a:prstGeom prst="ellipse">
            <a:avLst/>
          </a:prstGeom>
          <a:solidFill>
            <a:srgbClr val="FFFFFF"/>
          </a:solidFill>
          <a:ln w="12700">
            <a:solidFill>
              <a:srgbClr val="9AA3B5"/>
            </a:solidFill>
            <a:prstDash val="dash"/>
          </a:ln>
        </p:spPr>
        <p:txBody>
          <a:bodyPr wrap="square" lIns="0" tIns="0" rIns="0" bIns="0" rtlCol="0" anchor="ctr">
            <a:normAutofit/>
          </a:bodyPr>
          <a:lstStyle/>
          <a:p>
            <a:pPr algn="ctr"/>
            <a:r>
              <a:rPr lang="es-ES" sz="1100" b="1" dirty="0">
                <a:solidFill>
                  <a:srgbClr val="6B7280"/>
                </a:solidFill>
                <a:latin typeface="Montserrat" pitchFamily="2" charset="0"/>
                <a:ea typeface="Roboto Flex" panose="02000000000000000000" pitchFamily="2" charset="0"/>
              </a:rPr>
              <a:t>TEAM</a:t>
            </a:r>
          </a:p>
          <a:p>
            <a:pPr algn="ctr"/>
            <a:r>
              <a:rPr lang="es-ES" sz="1100" b="1" dirty="0">
                <a:solidFill>
                  <a:srgbClr val="6B7280"/>
                </a:solidFill>
                <a:latin typeface="Montserrat" pitchFamily="2" charset="0"/>
                <a:ea typeface="Roboto Flex" panose="02000000000000000000" pitchFamily="2" charset="0"/>
              </a:rPr>
              <a:t>LOGO</a:t>
            </a:r>
          </a:p>
        </p:txBody>
      </p:sp>
      <p:sp>
        <p:nvSpPr>
          <p:cNvPr id="3" name="Encabezado"/>
          <p:cNvSpPr txBox="1"/>
          <p:nvPr/>
        </p:nvSpPr>
        <p:spPr>
          <a:xfrm>
            <a:off x="1560000" y="150000"/>
            <a:ext cx="9120000" cy="640000"/>
          </a:xfrm>
          <a:prstGeom prst="rect">
            <a:avLst/>
          </a:prstGeom>
          <a:noFill/>
          <a:ln>
            <a:noFill/>
          </a:ln>
        </p:spPr>
        <p:txBody>
          <a:bodyPr wrap="square" lIns="0" tIns="0" rIns="0" bIns="0" rtlCol="0" anchor="ctr">
            <a:normAutofit/>
          </a:bodyPr>
          <a:lstStyle/>
          <a:p>
            <a:pPr algn="l">
              <a:lnSpc>
                <a:spcPct val="100000"/>
              </a:lnSpc>
            </a:pPr>
            <a:r>
              <a:rPr lang="es-ES" sz="2000" b="1" dirty="0">
                <a:solidFill>
                  <a:srgbClr val="242C4F"/>
                </a:solidFill>
                <a:latin typeface="Montserrat" pitchFamily="2" charset="0"/>
                <a:ea typeface="Roboto Flex" panose="02000000000000000000" pitchFamily="2" charset="0"/>
              </a:rPr>
              <a:t>MANAGEMENT</a:t>
            </a:r>
          </a:p>
        </p:txBody>
      </p:sp>
      <p:sp>
        <p:nvSpPr>
          <p:cNvPr id="4" name="Número de criterio"/>
          <p:cNvSpPr/>
          <p:nvPr/>
        </p:nvSpPr>
        <p:spPr>
          <a:xfrm>
            <a:off x="368560" y="1500000"/>
            <a:ext cx="520000" cy="520000"/>
          </a:xfrm>
          <a:prstGeom prst="ellipse">
            <a:avLst/>
          </a:prstGeom>
          <a:solidFill>
            <a:srgbClr val="242C4F"/>
          </a:solidFill>
          <a:ln>
            <a:noFill/>
          </a:ln>
        </p:spPr>
        <p:txBody>
          <a:bodyPr wrap="square" lIns="0" tIns="0" rIns="0" bIns="0" rtlCol="0" anchor="ctr">
            <a:normAutofit/>
          </a:bodyPr>
          <a:lstStyle/>
          <a:p>
            <a:pPr algn="ctr"/>
            <a:r>
              <a:rPr lang="es-ES" sz="1600" b="1" dirty="0">
                <a:solidFill>
                  <a:srgbClr val="FFFFFF"/>
                </a:solidFill>
                <a:latin typeface="Montserrat" pitchFamily="2" charset="0"/>
                <a:ea typeface="Roboto Flex" panose="02000000000000000000" pitchFamily="2" charset="0"/>
              </a:rPr>
              <a:t>85</a:t>
            </a:r>
          </a:p>
        </p:txBody>
      </p:sp>
      <p:sp>
        <p:nvSpPr>
          <p:cNvPr id="5" name="Título del criterio"/>
          <p:cNvSpPr txBox="1"/>
          <p:nvPr/>
        </p:nvSpPr>
        <p:spPr>
          <a:xfrm>
            <a:off x="1050000" y="1500000"/>
            <a:ext cx="10300000" cy="520000"/>
          </a:xfrm>
          <a:prstGeom prst="rect">
            <a:avLst/>
          </a:prstGeom>
          <a:noFill/>
          <a:ln>
            <a:noFill/>
          </a:ln>
        </p:spPr>
        <p:txBody>
          <a:bodyPr wrap="square" lIns="0" tIns="0" rIns="0" bIns="0" rtlCol="0" anchor="ctr">
            <a:normAutofit/>
          </a:bodyPr>
          <a:lstStyle/>
          <a:p>
            <a:pPr algn="l"/>
            <a:r>
              <a:rPr lang="es-ES" sz="2000" b="1" dirty="0">
                <a:solidFill>
                  <a:srgbClr val="138A8A"/>
                </a:solidFill>
                <a:latin typeface="Montserrat" pitchFamily="2" charset="0"/>
                <a:ea typeface="Roboto Flex" panose="02000000000000000000" pitchFamily="2" charset="0"/>
              </a:rPr>
              <a:t>Conclusions</a:t>
            </a:r>
          </a:p>
        </p:txBody>
      </p:sp>
      <p:sp>
        <p:nvSpPr>
          <p:cNvPr id="6" name="Etiqueta Expectations"/>
          <p:cNvSpPr txBox="1"/>
          <p:nvPr/>
        </p:nvSpPr>
        <p:spPr>
          <a:xfrm>
            <a:off x="368560" y="2150000"/>
            <a:ext cx="6000000" cy="380000"/>
          </a:xfrm>
          <a:prstGeom prst="rect">
            <a:avLst/>
          </a:prstGeom>
          <a:noFill/>
          <a:ln>
            <a:noFill/>
          </a:ln>
        </p:spPr>
        <p:txBody>
          <a:bodyPr wrap="square" lIns="0" tIns="0" rIns="0" bIns="0" rtlCol="0" anchor="ctr">
            <a:normAutofit/>
          </a:bodyPr>
          <a:lstStyle/>
          <a:p>
            <a:pPr algn="l"/>
            <a:r>
              <a:rPr lang="es-ES" sz="1400" b="1" dirty="0">
                <a:solidFill>
                  <a:srgbClr val="242C4F"/>
                </a:solidFill>
                <a:latin typeface="Montserrat" pitchFamily="2" charset="0"/>
                <a:ea typeface="Roboto Flex" panose="02000000000000000000" pitchFamily="2" charset="0"/>
              </a:rPr>
              <a:t>Expectations</a:t>
            </a:r>
          </a:p>
        </p:txBody>
      </p:sp>
      <p:sp>
        <p:nvSpPr>
          <p:cNvPr id="7" name="Expectativas"/>
          <p:cNvSpPr/>
          <p:nvPr/>
        </p:nvSpPr>
        <p:spPr>
          <a:xfrm>
            <a:off x="368560" y="2600000"/>
            <a:ext cx="11454880" cy="1500000"/>
          </a:xfrm>
          <a:prstGeom prst="roundRect">
            <a:avLst>
              <a:gd name="adj" fmla="val 4000"/>
            </a:avLst>
          </a:prstGeom>
          <a:solidFill>
            <a:srgbClr val="F1F4F9"/>
          </a:solidFill>
          <a:ln>
            <a:noFill/>
          </a:ln>
        </p:spPr>
        <p:txBody>
          <a:bodyPr wrap="square" lIns="300000" tIns="250000" rIns="300000" bIns="250000" rtlCol="0" anchor="t">
            <a:normAutofit/>
          </a:bodyPr>
          <a:lstStyle/>
          <a:p>
            <a:pPr algn="l"/>
            <a:endParaRPr lang="es-ES" sz="1600" i="1" dirty="0">
              <a:solidFill>
                <a:srgbClr val="6B7280"/>
              </a:solidFill>
              <a:latin typeface="Montserrat" pitchFamily="2" charset="0"/>
              <a:ea typeface="Roboto Flex" panose="02000000000000000000" pitchFamily="2" charset="0"/>
            </a:endParaRPr>
          </a:p>
        </p:txBody>
      </p:sp>
    </p:spTree>
    <p:extLst>
      <p:ext uri="{BB962C8B-B14F-4D97-AF65-F5344CB8AC3E}">
        <p14:creationId xmlns:p14="http://schemas.microsoft.com/office/powerpoint/2010/main" val="414181665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E552704-FB29-9E97-B8CE-BFDF9498C408}"/>
              </a:ext>
            </a:extLst>
          </p:cNvPr>
          <p:cNvSpPr/>
          <p:nvPr/>
        </p:nvSpPr>
        <p:spPr>
          <a:xfrm>
            <a:off x="621355" y="2322814"/>
            <a:ext cx="6904454" cy="923330"/>
          </a:xfrm>
          <a:prstGeom prst="rect">
            <a:avLst/>
          </a:prstGeom>
        </p:spPr>
        <p:txBody>
          <a:bodyPr wrap="none">
            <a:spAutoFit/>
          </a:bodyPr>
          <a:lstStyle/>
          <a:p>
            <a:r>
              <a:rPr lang="es-ES" sz="5400" b="1" dirty="0">
                <a:solidFill>
                  <a:schemeClr val="bg1"/>
                </a:solidFill>
                <a:latin typeface="Montserrat" pitchFamily="2" charset="0"/>
                <a:ea typeface="Roboto Flex" panose="02000000000000000000" pitchFamily="2" charset="0"/>
              </a:rPr>
              <a:t>MUCHAS GRACIAS</a:t>
            </a:r>
          </a:p>
        </p:txBody>
      </p:sp>
      <p:pic>
        <p:nvPicPr>
          <p:cNvPr id="5" name="Imagen 4">
            <a:extLst>
              <a:ext uri="{FF2B5EF4-FFF2-40B4-BE49-F238E27FC236}">
                <a16:creationId xmlns:a16="http://schemas.microsoft.com/office/drawing/2014/main" id="{99CAB557-AB24-C2E7-FB81-3F263D53B6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3322" y="3606282"/>
            <a:ext cx="869515" cy="556668"/>
          </a:xfrm>
          <a:prstGeom prst="rect">
            <a:avLst/>
          </a:prstGeom>
        </p:spPr>
      </p:pic>
      <p:sp>
        <p:nvSpPr>
          <p:cNvPr id="6" name="CuadroTexto 5">
            <a:extLst>
              <a:ext uri="{FF2B5EF4-FFF2-40B4-BE49-F238E27FC236}">
                <a16:creationId xmlns:a16="http://schemas.microsoft.com/office/drawing/2014/main" id="{7F44D4E3-04D4-EB93-FE2C-708EFB190538}"/>
              </a:ext>
            </a:extLst>
          </p:cNvPr>
          <p:cNvSpPr txBox="1"/>
          <p:nvPr/>
        </p:nvSpPr>
        <p:spPr>
          <a:xfrm>
            <a:off x="1754155" y="3746116"/>
            <a:ext cx="2637260" cy="276999"/>
          </a:xfrm>
          <a:prstGeom prst="rect">
            <a:avLst/>
          </a:prstGeom>
          <a:noFill/>
        </p:spPr>
        <p:txBody>
          <a:bodyPr wrap="none" rtlCol="0">
            <a:spAutoFit/>
          </a:bodyPr>
          <a:lstStyle/>
          <a:p>
            <a:r>
              <a:rPr lang="es-AR" sz="1200" b="1" dirty="0">
                <a:solidFill>
                  <a:schemeClr val="bg1"/>
                </a:solidFill>
                <a:latin typeface="Montserrat" pitchFamily="2" charset="0"/>
              </a:rPr>
              <a:t>La Agencia Espacial Argentina</a:t>
            </a:r>
          </a:p>
        </p:txBody>
      </p:sp>
    </p:spTree>
    <p:extLst>
      <p:ext uri="{BB962C8B-B14F-4D97-AF65-F5344CB8AC3E}">
        <p14:creationId xmlns:p14="http://schemas.microsoft.com/office/powerpoint/2010/main" val="4113123922"/>
      </p:ext>
    </p:extLst>
  </p:cSld>
  <p:clrMapOvr>
    <a:masterClrMapping/>
  </p:clrMapOvr>
</p:sld>
</file>

<file path=ppt/theme/theme1.xml><?xml version="1.0" encoding="utf-8"?>
<a:theme xmlns:a="http://schemas.openxmlformats.org/drawingml/2006/main" name="Tema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260F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ema1" id="{9B8BA6DC-1C8F-44A7-A302-F23DBE8005F8}" vid="{1DC83AF1-63AF-4327-AA11-BCE40A2FBA1F}"/>
    </a:ext>
  </a:extLst>
</a:theme>
</file>

<file path=docProps/app.xml><?xml version="1.0" encoding="utf-8"?>
<Properties xmlns="http://schemas.openxmlformats.org/officeDocument/2006/extended-properties" xmlns:vt="http://schemas.openxmlformats.org/officeDocument/2006/docPropsVTypes">
  <Template>Tema1</Template>
  <TotalTime>1243</TotalTime>
  <Words>2365</Words>
  <Application>Microsoft Office PowerPoint</Application>
  <PresentationFormat>Panorámica</PresentationFormat>
  <Paragraphs>606</Paragraphs>
  <Slides>89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89</vt:i4>
      </vt:variant>
    </vt:vector>
  </HeadingPairs>
  <TitlesOfParts>
    <vt:vector size="94" baseType="lpstr">
      <vt:lpstr>Arial</vt:lpstr>
      <vt:lpstr>Calibri</vt:lpstr>
      <vt:lpstr>Calibri Light</vt:lpstr>
      <vt:lpstr>Montserrat</vt:lpstr>
      <vt:lpstr>Tema1</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Juanjo</dc:creator>
  <cp:lastModifiedBy>Pablo Gonzalez</cp:lastModifiedBy>
  <cp:revision>74</cp:revision>
  <dcterms:created xsi:type="dcterms:W3CDTF">2023-07-10T14:38:49Z</dcterms:created>
  <dcterms:modified xsi:type="dcterms:W3CDTF">2026-10-14T11:32:04Z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22125d5-a8e0-4bfc-b60f-37738ea82271_Enabled">
    <vt:lpwstr>true</vt:lpwstr>
  </property>
  <property fmtid="{D5CDD505-2E9C-101B-9397-08002B2CF9AE}" pid="3" name="MSIP_Label_522125d5-a8e0-4bfc-b60f-37738ea82271_SetDate">
    <vt:lpwstr>2026-02-24T15:49:12Z</vt:lpwstr>
  </property>
  <property fmtid="{D5CDD505-2E9C-101B-9397-08002B2CF9AE}" pid="4" name="MSIP_Label_522125d5-a8e0-4bfc-b60f-37738ea82271_Method">
    <vt:lpwstr>Privileged</vt:lpwstr>
  </property>
  <property fmtid="{D5CDD505-2E9C-101B-9397-08002B2CF9AE}" pid="5" name="MSIP_Label_522125d5-a8e0-4bfc-b60f-37738ea82271_Name">
    <vt:lpwstr>Publico</vt:lpwstr>
  </property>
  <property fmtid="{D5CDD505-2E9C-101B-9397-08002B2CF9AE}" pid="6" name="MSIP_Label_522125d5-a8e0-4bfc-b60f-37738ea82271_SiteId">
    <vt:lpwstr>7541a422-19e3-429d-88ea-468e7ae8dd96</vt:lpwstr>
  </property>
  <property fmtid="{D5CDD505-2E9C-101B-9397-08002B2CF9AE}" pid="7" name="MSIP_Label_522125d5-a8e0-4bfc-b60f-37738ea82271_ActionId">
    <vt:lpwstr>287d6777-d425-42d4-8d09-e8ba925c9046</vt:lpwstr>
  </property>
  <property fmtid="{D5CDD505-2E9C-101B-9397-08002B2CF9AE}" pid="8" name="MSIP_Label_522125d5-a8e0-4bfc-b60f-37738ea82271_ContentBits">
    <vt:lpwstr>0</vt:lpwstr>
  </property>
  <property fmtid="{D5CDD505-2E9C-101B-9397-08002B2CF9AE}" pid="9" name="MSIP_Label_522125d5-a8e0-4bfc-b60f-37738ea82271_Tag">
    <vt:lpwstr>10, 0, 1, 1</vt:lpwstr>
  </property>
</Properties>
</file>